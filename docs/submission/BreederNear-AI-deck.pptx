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8" r:id="rId8"/>
    <p:sldId id="272" r:id="rId22"/>
    <p:sldId id="259" r:id="rId9"/>
    <p:sldId id="260" r:id="rId10"/>
    <p:sldId id="261" r:id="rId11"/>
    <p:sldId id="262" r:id="rId12"/>
    <p:sldId id="263" r:id="rId13"/>
    <p:sldId id="264" r:id="rId14"/>
    <p:sldId id="273" r:id="rId23"/>
    <p:sldId id="265" r:id="rId15"/>
    <p:sldId id="270" r:id="rId20"/>
    <p:sldId id="266" r:id="rId16"/>
    <p:sldId id="267" r:id="rId17"/>
    <p:sldId id="268" r:id="rId18"/>
    <p:sldId id="269" r:id="rId19"/>
    <p:sldId id="271" r:id="rId21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fb085bff3c_0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3fb085bff3c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fb085bff3c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fb085bff3c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fb085bff3c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fb085bff3c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fb085bff3c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fb085bff3c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fb085bff3c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3fb085bff3c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fb085bff3c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3fb085bff3c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fb085bff3c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fb085bff3c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fb085bff3c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fb085bff3c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fb085bff3c_0_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3fb085bff3c_0_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fb085bff3c_0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fb085bff3c_0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fb085bff3c_0_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3fb085bff3c_0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fb085bff3c_0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fb085bff3c_0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3fb085bff3c_0_10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" name="Google Shape;162;g3fb085bff3c_0_10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fb085bff3c_0_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3fb085bff3c_0_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6.jpg"/><Relationship Id="rId6" Type="http://schemas.openxmlformats.org/officeDocument/2006/relationships/image" Target="../media/image7.jpg"/><Relationship Id="rId7" Type="http://schemas.openxmlformats.org/officeDocument/2006/relationships/image" Target="../media/image8.jpg"/><Relationship Id="rId8" Type="http://schemas.openxmlformats.org/officeDocument/2006/relationships/image" Target="../media/image9.jpg"/><Relationship Id="rId9" Type="http://schemas.openxmlformats.org/officeDocument/2006/relationships/image" Target="../media/image10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11.jpg"/><Relationship Id="rId6" Type="http://schemas.openxmlformats.org/officeDocument/2006/relationships/image" Target="../media/image12.jpg"/><Relationship Id="rId7" Type="http://schemas.openxmlformats.org/officeDocument/2006/relationships/image" Target="../media/image13.jpg"/><Relationship Id="rId8" Type="http://schemas.openxmlformats.org/officeDocument/2006/relationships/image" Target="../media/image14.jpg"/><Relationship Id="rId9" Type="http://schemas.openxmlformats.org/officeDocument/2006/relationships/image" Target="../media/image15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hyperlink" Target="https://github.com/sudarsan-22/breedernear-ai" TargetMode="External"/><Relationship Id="rId6" Type="http://schemas.openxmlformats.org/officeDocument/2006/relationships/hyperlink" Target="https://drive.google.com/file/d/1R4uJceUVbF6Lt0R7gGpk-nVUlvT33xrd/view?usp=sharing" TargetMode="External"/><Relationship Id="rId7" Type="http://schemas.openxmlformats.org/officeDocument/2006/relationships/hyperlink" Target="https://breedernear-ai-2026.web.app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Relationship Id="rId3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46600" y="2902694"/>
            <a:ext cx="8760000" cy="200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1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Team Details</a:t>
            </a:r>
            <a:endParaRPr sz="21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Team name: 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  <a:r>
              <a:rPr lang="en-GB" sz="1800">
                <a:latin typeface="Google Sans Flex Medium"/>
                <a:ea typeface="Google Sans Flex"/>
                <a:cs typeface="Google Sans Flex"/>
                <a:sym typeface="Google Sans Flex"/>
              </a:rPr>
              <a:t>BreederNear AI</a:t>
            </a: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Team leader name: 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  <a:r>
              <a:rPr lang="en-GB" sz="1800">
                <a:latin typeface="Google Sans Flex Medium"/>
                <a:ea typeface="Google Sans Flex"/>
                <a:cs typeface="Google Sans Flex"/>
                <a:sym typeface="Google Sans Flex"/>
              </a:rPr>
              <a:t>Sudarsan N</a:t>
            </a: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Team member: 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  <a:r>
              <a:rPr lang="en-GB" sz="1800">
                <a:latin typeface="Google Sans Flex Medium"/>
                <a:ea typeface="Google Sans Flex"/>
                <a:cs typeface="Google Sans Flex"/>
                <a:sym typeface="Google Sans Flex"/>
              </a:rPr>
              <a:t>Shreya Azad</a:t>
            </a: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Problem Statement: 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  <a:r>
              <a:rPr lang="en-GB" sz="1800">
                <a:latin typeface="Google Sans Flex Medium"/>
                <a:ea typeface="Google Sans Flex"/>
                <a:cs typeface="Google Sans Flex"/>
                <a:sym typeface="Google Sans Flex"/>
              </a:rPr>
              <a:t>Retail &amp; Commerce: trusted, legal breeder-to-buyer pet commerce in India (BreederNear AI)</a:t>
            </a: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55" name="Google Shape;55;p13" title="Frame 14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-3"/>
            <a:ext cx="9144000" cy="2715526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 title="Frame 144.png"/>
          <p:cNvPicPr preferRelativeResize="0"/>
          <p:nvPr/>
        </p:nvPicPr>
        <p:blipFill rotWithShape="1">
          <a:blip r:embed="rId4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5" title="Group 42731997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1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1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Brief about the idea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72" name="TextBox 71"/>
          <p:cNvSpPr txBox="1"/>
          <p:nvPr/>
        </p:nvSpPr>
        <p:spPr>
          <a:xfrm>
            <a:off x="320040" y="1042415"/>
            <a:ext cx="85039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i="0">
                <a:solidFill>
                  <a:srgbClr val="C0261C"/>
                </a:solidFill>
                <a:latin typeface="Google Sans Flex SemiBold"/>
              </a:rPr>
              <a:t>“The breeder is 50 metres away. The customer never finds them.”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320040" y="1481328"/>
            <a:ext cx="8503920" cy="713232"/>
          </a:xfrm>
          <a:prstGeom prst="roundRect">
            <a:avLst>
              <a:gd name="adj" fmla="val 10256"/>
            </a:avLst>
          </a:prstGeom>
          <a:solidFill>
            <a:srgbClr val="FBE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4" name="TextBox 73"/>
          <p:cNvSpPr txBox="1"/>
          <p:nvPr/>
        </p:nvSpPr>
        <p:spPr>
          <a:xfrm>
            <a:off x="429768" y="1517904"/>
            <a:ext cx="8284464" cy="6583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i="0">
                <a:solidFill>
                  <a:srgbClr val="9A5700"/>
                </a:solidFill>
                <a:latin typeface="Google Sans Flex SemiBold"/>
              </a:rPr>
              <a:t>Why we are building this</a:t>
            </a:r>
          </a:p>
          <a:p>
            <a:pPr algn="l">
              <a:spcAft>
                <a:spcPts val="300"/>
              </a:spcAft>
            </a:pPr>
            <a:r>
              <a:rPr sz="1000" i="0">
                <a:solidFill>
                  <a:srgbClr val="1D1D1F"/>
                </a:solidFill>
                <a:latin typeface="Google Sans Flex"/>
              </a:rPr>
              <a:t>Our founder Sudarsan N spent five years as a bird breeder, pet-shop owner and broker in Coimbatore. He started with a ₹750 setup and earned over ₹4 lakh while knowing only about 100 people. Every week he watched buyers walk past a breeder on their own street into a shop, pay more for a weaker bird, or lose money to a stranger in a WhatsApp group.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320040" y="2286000"/>
            <a:ext cx="2712720" cy="1874519"/>
          </a:xfrm>
          <a:prstGeom prst="roundRect">
            <a:avLst>
              <a:gd name="adj" fmla="val 3902"/>
            </a:avLst>
          </a:prstGeom>
          <a:solidFill>
            <a:srgbClr val="FBE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6" name="TextBox 75"/>
          <p:cNvSpPr txBox="1"/>
          <p:nvPr/>
        </p:nvSpPr>
        <p:spPr>
          <a:xfrm>
            <a:off x="411479" y="2359152"/>
            <a:ext cx="2529840" cy="1764791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i="0">
                <a:solidFill>
                  <a:srgbClr val="C0261C"/>
                </a:solidFill>
                <a:latin typeface="Google Sans Flex SemiBold"/>
              </a:rPr>
              <a:t>Buyers lose money and trust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960" i="0">
                <a:solidFill>
                  <a:srgbClr val="1D1D1F"/>
                </a:solidFill>
                <a:latin typeface="Google Sans Flex"/>
              </a:rPr>
              <a:t>Can’t find the breeder next door, so they pay shop prices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960" i="0">
                <a:solidFill>
                  <a:srgbClr val="1D1D1F"/>
                </a:solidFill>
                <a:latin typeface="Google Sans Flex"/>
              </a:rPr>
              <a:t>Can’t tell a real seller from a scam: “full advance, courier only”, stolen photos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960" i="0">
                <a:solidFill>
                  <a:srgbClr val="1D1D1F"/>
                </a:solidFill>
                <a:latin typeface="Google Sans Flex"/>
              </a:rPr>
              <a:t>Don’t know which birds are protected or that dog breeders must register⁵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960" i="0">
                <a:solidFill>
                  <a:srgbClr val="1D1D1F"/>
                </a:solidFill>
                <a:latin typeface="Google Sans Flex"/>
              </a:rPr>
              <a:t>Alone after buying: wrong cage, wrong food, late to the vet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3215640" y="2286000"/>
            <a:ext cx="2712720" cy="1874519"/>
          </a:xfrm>
          <a:prstGeom prst="roundRect">
            <a:avLst>
              <a:gd name="adj" fmla="val 3902"/>
            </a:avLst>
          </a:prstGeom>
          <a:solidFill>
            <a:srgbClr val="FBE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8" name="TextBox 77"/>
          <p:cNvSpPr txBox="1"/>
          <p:nvPr/>
        </p:nvSpPr>
        <p:spPr>
          <a:xfrm>
            <a:off x="3307080" y="2359152"/>
            <a:ext cx="2529840" cy="1764791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i="0">
                <a:solidFill>
                  <a:srgbClr val="C0261C"/>
                </a:solidFill>
                <a:latin typeface="Google Sans Flex SemiBold"/>
              </a:rPr>
              <a:t>Breeders lose time and reach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960" i="0">
                <a:solidFill>
                  <a:srgbClr val="1D1D1F"/>
                </a:solidFill>
                <a:latin typeface="Google Sans Flex"/>
              </a:rPr>
              <a:t>Sell only inside their own small circle and district groups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960" i="0">
                <a:solidFill>
                  <a:srgbClr val="1D1D1F"/>
                </a:solidFill>
                <a:latin typeface="Google Sans Flex"/>
              </a:rPr>
              <a:t>Hours of calls every day, the same 20 questions, the same post retyped in every group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960" i="0">
                <a:solidFill>
                  <a:srgbClr val="1D1D1F"/>
                </a:solidFill>
                <a:latin typeface="Google Sans Flex"/>
              </a:rPr>
              <a:t>Good breeders look exactly like bad ones: no way to prove it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6111240" y="2286000"/>
            <a:ext cx="2712720" cy="1874519"/>
          </a:xfrm>
          <a:prstGeom prst="roundRect">
            <a:avLst>
              <a:gd name="adj" fmla="val 3902"/>
            </a:avLst>
          </a:prstGeom>
          <a:solidFill>
            <a:srgbClr val="FBE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0" name="TextBox 79"/>
          <p:cNvSpPr txBox="1"/>
          <p:nvPr/>
        </p:nvSpPr>
        <p:spPr>
          <a:xfrm>
            <a:off x="6202680" y="2359152"/>
            <a:ext cx="2529840" cy="1764791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i="0">
                <a:solidFill>
                  <a:srgbClr val="C0261C"/>
                </a:solidFill>
                <a:latin typeface="Google Sans Flex SemiBold"/>
              </a:rPr>
              <a:t>Animals and the law lose most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960" i="0">
                <a:solidFill>
                  <a:srgbClr val="1D1D1F"/>
                </a:solidFill>
                <a:latin typeface="Google Sans Flex"/>
              </a:rPr>
              <a:t>300+ of India’s ~1,200 bird species are found in illegal trade³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960" i="0">
                <a:solidFill>
                  <a:srgbClr val="1D1D1F"/>
                </a:solidFill>
                <a:latin typeface="Google Sans Flex"/>
              </a:rPr>
              <a:t>Munias are dyed to disguise them⁴; dyed chicks were still on sale in an unlicensed Bengaluru shop in June 2026⁶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960" i="0">
                <a:solidFill>
                  <a:srgbClr val="1D1D1F"/>
                </a:solidFill>
                <a:latin typeface="Google Sans Flex"/>
              </a:rPr>
              <a:t>Sick animals are sold because nobody checks before the sale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320040" y="4233672"/>
            <a:ext cx="8503920" cy="411480"/>
          </a:xfrm>
          <a:prstGeom prst="roundRect">
            <a:avLst>
              <a:gd name="adj" fmla="val 17777"/>
            </a:avLst>
          </a:prstGeom>
          <a:solidFill>
            <a:srgbClr val="1D1D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2" name="TextBox 81"/>
          <p:cNvSpPr txBox="1"/>
          <p:nvPr/>
        </p:nvSpPr>
        <p:spPr>
          <a:xfrm>
            <a:off x="429768" y="4233672"/>
            <a:ext cx="8284464" cy="4114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019" i="0">
                <a:solidFill>
                  <a:srgbClr val="FFFFFF"/>
                </a:solidFill>
                <a:latin typeface="Google Sans Flex SemiBold"/>
              </a:rPr>
              <a:t>Still unsolved in 2026: </a:t>
            </a:r>
            <a:r>
              <a:rPr sz="1019" i="0">
                <a:solidFill>
                  <a:srgbClr val="FFFFFF"/>
                </a:solidFill>
                <a:latin typeface="Google Sans Flex"/>
              </a:rPr>
              <a:t>OLX stopped live-animal listings², big pet platforms sell food and accessories, so India’s ~39 million-pet market¹ still buys animals through WhatsApp, Facebook and Instagram groups with no checks at all.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20040" y="4681728"/>
            <a:ext cx="85039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650" i="0">
                <a:solidFill>
                  <a:srgbClr val="5F5F64"/>
                </a:solidFill>
                <a:latin typeface="Google Sans Flex"/>
              </a:rPr>
              <a:t>Founder figures are his own experience · ¹ Euromonitor 2025 · ² OLX India: items not allowed · ³ WWF-India / TRAFFIC · ⁴ Deccan Herald, Aug 2023 · ⁵ PCA (Dog Breeding and Marketing) Rules 2017 · ⁶ PETA India, 25 Jun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7" name="Google Shape;77;p1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1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" name="Google Shape;79;p16"/>
          <p:cNvSpPr txBox="1"/>
          <p:nvPr/>
        </p:nvSpPr>
        <p:spPr>
          <a:xfrm>
            <a:off x="265350" y="663825"/>
            <a:ext cx="8943000" cy="1366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Opportunities</a:t>
            </a:r>
            <a:br>
              <a:rPr lang="en-GB" sz="16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</a:br>
            <a:endParaRPr sz="16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</p:txBody>
      </p:sp>
      <p:sp>
        <p:nvSpPr>
          <p:cNvPr id="80" name="Rounded Rectangle 79"/>
          <p:cNvSpPr/>
          <p:nvPr/>
        </p:nvSpPr>
        <p:spPr>
          <a:xfrm>
            <a:off x="320040" y="1161288"/>
            <a:ext cx="2712720" cy="3520440"/>
          </a:xfrm>
          <a:prstGeom prst="roundRect">
            <a:avLst>
              <a:gd name="adj" fmla="val 2696"/>
            </a:avLst>
          </a:prstGeom>
          <a:solidFill>
            <a:srgbClr val="E4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1" name="TextBox 80"/>
          <p:cNvSpPr txBox="1"/>
          <p:nvPr/>
        </p:nvSpPr>
        <p:spPr>
          <a:xfrm>
            <a:off x="411479" y="1234440"/>
            <a:ext cx="2529840" cy="341071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i="0">
                <a:solidFill>
                  <a:srgbClr val="1F5FA8"/>
                </a:solidFill>
                <a:latin typeface="Google Sans Flex SemiBold"/>
              </a:rPr>
              <a:t>How is it different?</a:t>
            </a:r>
          </a:p>
          <a:p>
            <a:pPr algn="l">
              <a:spcAft>
                <a:spcPts val="300"/>
              </a:spcAft>
            </a:pPr>
            <a:r>
              <a:rPr sz="1000" i="0">
                <a:solidFill>
                  <a:srgbClr val="1D1D1F"/>
                </a:solidFill>
                <a:latin typeface="Google Sans Flex SemiBold"/>
              </a:rPr>
              <a:t>WhatsApp / Facebook groups: </a:t>
            </a:r>
            <a:r>
              <a:rPr sz="1000" i="0">
                <a:solidFill>
                  <a:srgbClr val="1D1D1F"/>
                </a:solidFill>
                <a:latin typeface="Google Sans Flex"/>
              </a:rPr>
              <a:t>reach, but no checks, no records, no recourse</a:t>
            </a:r>
          </a:p>
          <a:p>
            <a:pPr algn="l">
              <a:spcAft>
                <a:spcPts val="300"/>
              </a:spcAft>
            </a:pPr>
            <a:r>
              <a:rPr sz="1000" i="0">
                <a:solidFill>
                  <a:srgbClr val="1D1D1F"/>
                </a:solidFill>
                <a:latin typeface="Google Sans Flex SemiBold"/>
              </a:rPr>
              <a:t>Classifieds (OLX): </a:t>
            </a:r>
            <a:r>
              <a:rPr sz="1000" i="0">
                <a:solidFill>
                  <a:srgbClr val="1D1D1F"/>
                </a:solidFill>
                <a:latin typeface="Google Sans Flex"/>
              </a:rPr>
              <a:t>stopped live-animal listings</a:t>
            </a:r>
          </a:p>
          <a:p>
            <a:pPr algn="l">
              <a:spcAft>
                <a:spcPts val="300"/>
              </a:spcAft>
            </a:pPr>
            <a:r>
              <a:rPr sz="1000" i="0">
                <a:solidFill>
                  <a:srgbClr val="1D1D1F"/>
                </a:solidFill>
                <a:latin typeface="Google Sans Flex SemiBold"/>
              </a:rPr>
              <a:t>Pet super-apps: </a:t>
            </a:r>
            <a:r>
              <a:rPr sz="1000" i="0">
                <a:solidFill>
                  <a:srgbClr val="1D1D1F"/>
                </a:solidFill>
                <a:latin typeface="Google Sans Flex"/>
              </a:rPr>
              <a:t>food, accessories and vets, not the animal</a:t>
            </a:r>
          </a:p>
          <a:p>
            <a:pPr algn="l">
              <a:spcAft>
                <a:spcPts val="300"/>
              </a:spcAft>
            </a:pPr>
            <a:r>
              <a:rPr sz="1000" i="0">
                <a:solidFill>
                  <a:srgbClr val="1D1D1F"/>
                </a:solidFill>
                <a:latin typeface="Google Sans Flex SemiBold"/>
              </a:rPr>
              <a:t>Kennel websites: </a:t>
            </a:r>
            <a:r>
              <a:rPr sz="1000" i="0">
                <a:solidFill>
                  <a:srgbClr val="1D1D1F"/>
                </a:solidFill>
                <a:latin typeface="Google Sans Flex"/>
              </a:rPr>
              <a:t>one seller vouching for itself</a:t>
            </a:r>
          </a:p>
          <a:p>
            <a:pPr algn="l">
              <a:spcAft>
                <a:spcPts val="300"/>
              </a:spcAft>
            </a:pPr>
            <a:r>
              <a:rPr sz="1000" i="0">
                <a:solidFill>
                  <a:srgbClr val="1D1D1F"/>
                </a:solidFill>
                <a:latin typeface="Google Sans Flex SemiBold"/>
              </a:rPr>
              <a:t>No platform we found checks every listing for wildlife law, registration, scam prices and reused photos before it goes live, and then stays with the buyer after the sale.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3215640" y="1161288"/>
            <a:ext cx="2712720" cy="3520440"/>
          </a:xfrm>
          <a:prstGeom prst="roundRect">
            <a:avLst>
              <a:gd name="adj" fmla="val 2696"/>
            </a:avLst>
          </a:prstGeom>
          <a:solidFill>
            <a:srgbClr val="E5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3" name="TextBox 82"/>
          <p:cNvSpPr txBox="1"/>
          <p:nvPr/>
        </p:nvSpPr>
        <p:spPr>
          <a:xfrm>
            <a:off x="3307080" y="1234440"/>
            <a:ext cx="2529840" cy="341071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i="0">
                <a:solidFill>
                  <a:srgbClr val="1F6E43"/>
                </a:solidFill>
                <a:latin typeface="Google Sans Flex SemiBold"/>
              </a:rPr>
              <a:t>How does it solve the problem?</a:t>
            </a:r>
          </a:p>
          <a:p>
            <a:pPr algn="l">
              <a:spcAft>
                <a:spcPts val="300"/>
              </a:spcAft>
            </a:pPr>
            <a:r>
              <a:rPr sz="1000" i="0">
                <a:solidFill>
                  <a:srgbClr val="1D1D1F"/>
                </a:solidFill>
                <a:latin typeface="Google Sans Flex SemiBold"/>
              </a:rPr>
              <a:t>Invisible breeders → </a:t>
            </a:r>
            <a:r>
              <a:rPr sz="1000" i="0">
                <a:solidFill>
                  <a:srgbClr val="1D1D1F"/>
                </a:solidFill>
                <a:latin typeface="Google Sans Flex"/>
              </a:rPr>
              <a:t>listed in a minute from photos and a Tamil message</a:t>
            </a:r>
          </a:p>
          <a:p>
            <a:pPr algn="l">
              <a:spcAft>
                <a:spcPts val="300"/>
              </a:spcAft>
            </a:pPr>
            <a:r>
              <a:rPr sz="1000" i="0">
                <a:solidFill>
                  <a:srgbClr val="1D1D1F"/>
                </a:solidFill>
                <a:latin typeface="Google Sans Flex SemiBold"/>
              </a:rPr>
              <a:t>Scams → </a:t>
            </a:r>
            <a:r>
              <a:rPr sz="1000" i="0">
                <a:solidFill>
                  <a:srgbClr val="1D1D1F"/>
                </a:solidFill>
                <a:latin typeface="Google Sans Flex"/>
              </a:rPr>
              <a:t>price, wording and reused-photo checks; outside posts checked too</a:t>
            </a:r>
          </a:p>
          <a:p>
            <a:pPr algn="l">
              <a:spcAft>
                <a:spcPts val="300"/>
              </a:spcAft>
            </a:pPr>
            <a:r>
              <a:rPr sz="1000" i="0">
                <a:solidFill>
                  <a:srgbClr val="1D1D1F"/>
                </a:solidFill>
                <a:latin typeface="Google Sans Flex SemiBold"/>
              </a:rPr>
              <a:t>Illegal birds → </a:t>
            </a:r>
            <a:r>
              <a:rPr sz="1000" i="0">
                <a:solidFill>
                  <a:srgbClr val="1D1D1F"/>
                </a:solidFill>
                <a:latin typeface="Google Sans Flex"/>
              </a:rPr>
              <a:t>blocked in code from the photo alone</a:t>
            </a:r>
          </a:p>
          <a:p>
            <a:pPr algn="l">
              <a:spcAft>
                <a:spcPts val="300"/>
              </a:spcAft>
            </a:pPr>
            <a:r>
              <a:rPr sz="1000" i="0">
                <a:solidFill>
                  <a:srgbClr val="1D1D1F"/>
                </a:solidFill>
                <a:latin typeface="Google Sans Flex SemiBold"/>
              </a:rPr>
              <a:t>Unproven breeders → </a:t>
            </a:r>
            <a:r>
              <a:rPr sz="1000" i="0">
                <a:solidFill>
                  <a:srgbClr val="1D1D1F"/>
                </a:solidFill>
                <a:latin typeface="Google Sans Flex"/>
              </a:rPr>
              <a:t>Verified badge: phone, facility photos, registration</a:t>
            </a:r>
          </a:p>
          <a:p>
            <a:pPr algn="l">
              <a:spcAft>
                <a:spcPts val="300"/>
              </a:spcAft>
            </a:pPr>
            <a:r>
              <a:rPr sz="1000" i="0">
                <a:solidFill>
                  <a:srgbClr val="1D1D1F"/>
                </a:solidFill>
                <a:latin typeface="Google Sans Flex SemiBold"/>
              </a:rPr>
              <a:t>Lost hours → </a:t>
            </a:r>
            <a:r>
              <a:rPr sz="1000" i="0">
                <a:solidFill>
                  <a:srgbClr val="1D1D1F"/>
                </a:solidFill>
                <a:latin typeface="Google Sans Flex"/>
              </a:rPr>
              <a:t>AI drafts replies; visits booked in the app</a:t>
            </a:r>
          </a:p>
          <a:p>
            <a:pPr algn="l">
              <a:spcAft>
                <a:spcPts val="300"/>
              </a:spcAft>
            </a:pPr>
            <a:r>
              <a:rPr sz="1000" i="0">
                <a:solidFill>
                  <a:srgbClr val="1D1D1F"/>
                </a:solidFill>
                <a:latin typeface="Google Sans Flex SemiBold"/>
              </a:rPr>
              <a:t>Alone after buying → </a:t>
            </a:r>
            <a:r>
              <a:rPr sz="1000" i="0">
                <a:solidFill>
                  <a:srgbClr val="1D1D1F"/>
                </a:solidFill>
                <a:latin typeface="Google Sans Flex"/>
              </a:rPr>
              <a:t>starter kit, care plan, daily log, vet urgency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6111240" y="1161288"/>
            <a:ext cx="2712720" cy="3520440"/>
          </a:xfrm>
          <a:prstGeom prst="roundRect">
            <a:avLst>
              <a:gd name="adj" fmla="val 2696"/>
            </a:avLst>
          </a:prstGeom>
          <a:solidFill>
            <a:srgbClr val="FBE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5" name="TextBox 84"/>
          <p:cNvSpPr txBox="1"/>
          <p:nvPr/>
        </p:nvSpPr>
        <p:spPr>
          <a:xfrm>
            <a:off x="6202680" y="1234440"/>
            <a:ext cx="2529840" cy="341071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i="0">
                <a:solidFill>
                  <a:srgbClr val="9A5700"/>
                </a:solidFill>
                <a:latin typeface="Google Sans Flex SemiBold"/>
              </a:rPr>
              <a:t>USP</a:t>
            </a:r>
          </a:p>
          <a:p>
            <a:pPr algn="l">
              <a:spcAft>
                <a:spcPts val="300"/>
              </a:spcAft>
            </a:pPr>
            <a:r>
              <a:rPr sz="1040" i="0">
                <a:solidFill>
                  <a:srgbClr val="1D1D1F"/>
                </a:solidFill>
                <a:latin typeface="Google Sans Flex SemiBold"/>
              </a:rPr>
              <a:t>Trust built in, not bolted on.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40" i="0">
                <a:solidFill>
                  <a:srgbClr val="1D1D1F"/>
                </a:solidFill>
                <a:latin typeface="Google Sans Flex"/>
              </a:rPr>
              <a:t>Rules in code decide; Gemini reads and explains. A prompt injection still ends in CAUTION (eval E12).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40" i="0">
                <a:solidFill>
                  <a:srgbClr val="1D1D1F"/>
                </a:solidFill>
                <a:latin typeface="Google Sans Flex"/>
              </a:rPr>
              <a:t>Protected species blocked from the photo alone: 8/8 in testing, 0/37 false alarms.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40" i="0">
                <a:solidFill>
                  <a:srgbClr val="1D1D1F"/>
                </a:solidFill>
                <a:latin typeface="Google Sans Flex"/>
              </a:rPr>
              <a:t>Works where the trade already happens: Tamil and English messages, posts from groups.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40" i="0">
                <a:solidFill>
                  <a:srgbClr val="1D1D1F"/>
                </a:solidFill>
                <a:latin typeface="Google Sans Flex"/>
              </a:rPr>
              <a:t>Founder–market fit: designed from five years inside this exact trade.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17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List of features offered by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88" name="Rounded Rectangle 87"/>
          <p:cNvSpPr/>
          <p:nvPr/>
        </p:nvSpPr>
        <p:spPr>
          <a:xfrm>
            <a:off x="320040" y="1115568"/>
            <a:ext cx="4114800" cy="2697480"/>
          </a:xfrm>
          <a:prstGeom prst="roundRect">
            <a:avLst>
              <a:gd name="adj" fmla="val 2711"/>
            </a:avLst>
          </a:prstGeom>
          <a:solidFill>
            <a:srgbClr val="E5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9" name="TextBox 88"/>
          <p:cNvSpPr txBox="1"/>
          <p:nvPr/>
        </p:nvSpPr>
        <p:spPr>
          <a:xfrm>
            <a:off x="411479" y="1188720"/>
            <a:ext cx="3931920" cy="258775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i="0">
                <a:solidFill>
                  <a:srgbClr val="1F6E43"/>
                </a:solidFill>
                <a:latin typeface="Google Sans Flex SemiBold"/>
              </a:rPr>
              <a:t>For buyers (customer app)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19" i="0">
                <a:solidFill>
                  <a:srgbClr val="1D1D1F"/>
                </a:solidFill>
                <a:latin typeface="Google Sans Flex"/>
              </a:rPr>
              <a:t>Pets near me with a match % for your home, trusted first, fair-price bar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19" i="0">
                <a:solidFill>
                  <a:srgbClr val="1D1D1F"/>
                </a:solidFill>
                <a:latin typeface="Google Sans Flex"/>
              </a:rPr>
              <a:t>Listing page: trust checks, health notes, questions to ask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19" i="0">
                <a:solidFill>
                  <a:srgbClr val="1D1D1F"/>
                </a:solidFill>
                <a:latin typeface="Google Sans Flex"/>
              </a:rPr>
              <a:t>AI-drafted first message; scam warnings on replies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19" i="0">
                <a:solidFill>
                  <a:srgbClr val="1D1D1F"/>
                </a:solidFill>
                <a:latin typeface="Google Sans Flex"/>
              </a:rPr>
              <a:t>Book a visit; “I bought this pet” after it (paid in person)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19" i="0">
                <a:solidFill>
                  <a:srgbClr val="1D1D1F"/>
                </a:solidFill>
                <a:latin typeface="Google Sans Flex"/>
              </a:rPr>
              <a:t>My pets: daily log with AI feedback, growth, health calendar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19" i="0">
                <a:solidFill>
                  <a:srgbClr val="1D1D1F"/>
                </a:solidFill>
                <a:latin typeface="Google Sans Flex"/>
              </a:rPr>
              <a:t>Symptom checker: how urgently to see a vet (never medicines)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19" i="0">
                <a:solidFill>
                  <a:srgbClr val="1D1D1F"/>
                </a:solidFill>
                <a:latin typeface="Google Sans Flex"/>
              </a:rPr>
              <a:t>“Is this post safe?” with share and report; starter kit; Local Breeders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4709159" y="1115568"/>
            <a:ext cx="4114800" cy="2697480"/>
          </a:xfrm>
          <a:prstGeom prst="roundRect">
            <a:avLst>
              <a:gd name="adj" fmla="val 2711"/>
            </a:avLst>
          </a:prstGeom>
          <a:solidFill>
            <a:srgbClr val="E4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1" name="TextBox 90"/>
          <p:cNvSpPr txBox="1"/>
          <p:nvPr/>
        </p:nvSpPr>
        <p:spPr>
          <a:xfrm>
            <a:off x="4800599" y="1188720"/>
            <a:ext cx="3931920" cy="258775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i="0">
                <a:solidFill>
                  <a:srgbClr val="1F5FA8"/>
                </a:solidFill>
                <a:latin typeface="Google Sans Flex SemiBold"/>
              </a:rPr>
              <a:t>For sellers (seller app)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19" i="0">
                <a:solidFill>
                  <a:srgbClr val="1D1D1F"/>
                </a:solidFill>
                <a:latin typeface="Google Sans Flex"/>
              </a:rPr>
              <a:t>“Fill with AI”: photos + a Tamil/English message or voice note become a listing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19" i="0">
                <a:solidFill>
                  <a:srgbClr val="1D1D1F"/>
                </a:solidFill>
                <a:latin typeface="Google Sans Flex"/>
              </a:rPr>
              <a:t>Publish with trust check: TRUSTED, CAUTION or BLOCKED, with reasons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19" i="0">
                <a:solidFill>
                  <a:srgbClr val="1D1D1F"/>
                </a:solidFill>
                <a:latin typeface="Google Sans Flex"/>
              </a:rPr>
              <a:t>Dashboard charts: views, enquiries, visits, sales, funnel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19" i="0">
                <a:solidFill>
                  <a:srgbClr val="1D1D1F"/>
                </a:solidFill>
                <a:latin typeface="Google Sans Flex"/>
              </a:rPr>
              <a:t>Verified breeder badge: phone code, facility photos read by Gemini, dog-breeder certificate (no ID documents)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19" i="0">
                <a:solidFill>
                  <a:srgbClr val="1D1D1F"/>
                </a:solidFill>
                <a:latin typeface="Google Sans Flex"/>
              </a:rPr>
              <a:t>Visit requests to confirm; AI-drafted replies to enquiries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19" i="0">
                <a:solidFill>
                  <a:srgbClr val="1D1D1F"/>
                </a:solidFill>
                <a:latin typeface="Google Sans Flex"/>
              </a:rPr>
              <a:t>Vaccination card read into the trust check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320040" y="3904487"/>
            <a:ext cx="8503920" cy="914400"/>
          </a:xfrm>
          <a:prstGeom prst="roundRect">
            <a:avLst>
              <a:gd name="adj" fmla="val 8000"/>
            </a:avLst>
          </a:prstGeom>
          <a:solidFill>
            <a:srgbClr val="F3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3" name="TextBox 92"/>
          <p:cNvSpPr txBox="1"/>
          <p:nvPr/>
        </p:nvSpPr>
        <p:spPr>
          <a:xfrm>
            <a:off x="411479" y="3977639"/>
            <a:ext cx="8321040" cy="8046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i="0">
                <a:solidFill>
                  <a:srgbClr val="1D1D1F"/>
                </a:solidFill>
                <a:latin typeface="Google Sans Flex SemiBold"/>
              </a:rPr>
              <a:t>Everywhere</a:t>
            </a:r>
          </a:p>
          <a:p>
            <a:pPr algn="l">
              <a:spcAft>
                <a:spcPts val="300"/>
              </a:spcAft>
            </a:pPr>
            <a:r>
              <a:rPr sz="1000" i="0">
                <a:solidFill>
                  <a:srgbClr val="1D1D1F"/>
                </a:solidFill>
                <a:latin typeface="Google Sans Flex SemiBold"/>
              </a:rPr>
              <a:t>Seven Gemini agents</a:t>
            </a:r>
            <a:r>
              <a:rPr sz="1000" i="0">
                <a:solidFill>
                  <a:srgbClr val="1D1D1F"/>
                </a:solidFill>
                <a:latin typeface="Google Sans Flex"/>
              </a:rPr>
              <a:t> in English or Tamil use the same tools as the screens.  </a:t>
            </a:r>
            <a:r>
              <a:rPr sz="1000" i="0">
                <a:solidFill>
                  <a:srgbClr val="1D1D1F"/>
                </a:solidFill>
                <a:latin typeface="Google Sans Flex SemiBold"/>
              </a:rPr>
              <a:t>Sign-in:</a:t>
            </a:r>
            <a:r>
              <a:rPr sz="1000" i="0">
                <a:solidFill>
                  <a:srgbClr val="1D1D1F"/>
                </a:solidFill>
                <a:latin typeface="Google Sans Flex"/>
              </a:rPr>
              <a:t> password, one-time code or Google (Firebase Authentication).  </a:t>
            </a:r>
            <a:r>
              <a:rPr sz="1000" i="0">
                <a:solidFill>
                  <a:srgbClr val="1D1D1F"/>
                </a:solidFill>
                <a:latin typeface="Google Sans Flex SemiBold"/>
              </a:rPr>
              <a:t>Safety:</a:t>
            </a:r>
            <a:r>
              <a:rPr sz="1000" i="0">
                <a:solidFill>
                  <a:srgbClr val="1D1D1F"/>
                </a:solidFill>
                <a:latin typeface="Google Sans Flex"/>
              </a:rPr>
              <a:t> roles checked in the API and the AI tools, rate limits, every AI reply checked for medicine doses.  </a:t>
            </a:r>
            <a:r>
              <a:rPr sz="1000" i="0">
                <a:solidFill>
                  <a:srgbClr val="1D1D1F"/>
                </a:solidFill>
                <a:latin typeface="Google Sans Flex SemiBold"/>
              </a:rPr>
              <a:t>Accessible:</a:t>
            </a:r>
            <a:r>
              <a:rPr sz="1000" i="0">
                <a:solidFill>
                  <a:srgbClr val="1D1D1F"/>
                </a:solidFill>
                <a:latin typeface="Google Sans Flex"/>
              </a:rPr>
              <a:t> WCAG 2.2 AA, phone to desktop.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8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8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8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Process flow diagram or Use-case diagram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320040" y="1097280"/>
            <a:ext cx="182880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900" i="0">
                <a:solidFill>
                  <a:srgbClr val="1F5FA8"/>
                </a:solidFill>
                <a:latin typeface="Google Sans Flex SemiBold"/>
              </a:rPr>
              <a:t>SELLER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320040" y="1344168"/>
            <a:ext cx="1481328" cy="658368"/>
          </a:xfrm>
          <a:prstGeom prst="roundRect">
            <a:avLst>
              <a:gd name="adj" fmla="val 9722"/>
            </a:avLst>
          </a:prstGeom>
          <a:solidFill>
            <a:srgbClr val="E4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8" name="TextBox 97"/>
          <p:cNvSpPr txBox="1"/>
          <p:nvPr/>
        </p:nvSpPr>
        <p:spPr>
          <a:xfrm>
            <a:off x="356615" y="1344168"/>
            <a:ext cx="1408176" cy="65836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950" i="0">
                <a:solidFill>
                  <a:srgbClr val="1D1D1F"/>
                </a:solidFill>
                <a:latin typeface="Google Sans Flex SemiBold"/>
              </a:rPr>
              <a:t>Photos + message</a:t>
            </a:r>
          </a:p>
          <a:p>
            <a:pPr algn="ctr">
              <a:spcAft>
                <a:spcPts val="0"/>
              </a:spcAft>
            </a:pPr>
            <a:r>
              <a:rPr sz="800" i="0">
                <a:solidFill>
                  <a:srgbClr val="5F5F64"/>
                </a:solidFill>
                <a:latin typeface="Google Sans Flex"/>
              </a:rPr>
              <a:t>Tamil or English, as in WhatsApp</a:t>
            </a:r>
          </a:p>
        </p:txBody>
      </p:sp>
      <p:cxnSp>
        <p:nvCxnSpPr>
          <p:cNvPr id="99" name="Connector 98"/>
          <p:cNvCxnSpPr/>
          <p:nvPr/>
        </p:nvCxnSpPr>
        <p:spPr>
          <a:xfrm>
            <a:off x="1801368" y="1673352"/>
            <a:ext cx="265176" cy="0"/>
          </a:xfrm>
          <a:prstGeom prst="line">
            <a:avLst/>
          </a:prstGeom>
          <a:ln w="15875">
            <a:solidFill>
              <a:srgbClr val="5F5F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Rounded Rectangle 99"/>
          <p:cNvSpPr/>
          <p:nvPr/>
        </p:nvSpPr>
        <p:spPr>
          <a:xfrm>
            <a:off x="2066544" y="1344168"/>
            <a:ext cx="1481328" cy="658368"/>
          </a:xfrm>
          <a:prstGeom prst="roundRect">
            <a:avLst>
              <a:gd name="adj" fmla="val 9722"/>
            </a:avLst>
          </a:prstGeom>
          <a:solidFill>
            <a:srgbClr val="E4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" name="TextBox 100"/>
          <p:cNvSpPr txBox="1"/>
          <p:nvPr/>
        </p:nvSpPr>
        <p:spPr>
          <a:xfrm>
            <a:off x="2103120" y="1344168"/>
            <a:ext cx="1408176" cy="65836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950" i="0">
                <a:solidFill>
                  <a:srgbClr val="1D1D1F"/>
                </a:solidFill>
                <a:latin typeface="Google Sans Flex SemiBold"/>
              </a:rPr>
              <a:t>Gemini fills the form</a:t>
            </a:r>
          </a:p>
          <a:p>
            <a:pPr algn="ctr">
              <a:spcAft>
                <a:spcPts val="0"/>
              </a:spcAft>
            </a:pPr>
            <a:r>
              <a:rPr sz="800" i="0">
                <a:solidFill>
                  <a:srgbClr val="5F5F64"/>
                </a:solidFill>
                <a:latin typeface="Google Sans Flex"/>
              </a:rPr>
              <a:t>multimodal, JSON schema</a:t>
            </a:r>
          </a:p>
        </p:txBody>
      </p:sp>
      <p:cxnSp>
        <p:nvCxnSpPr>
          <p:cNvPr id="102" name="Connector 101"/>
          <p:cNvCxnSpPr/>
          <p:nvPr/>
        </p:nvCxnSpPr>
        <p:spPr>
          <a:xfrm>
            <a:off x="3547872" y="1673352"/>
            <a:ext cx="265176" cy="0"/>
          </a:xfrm>
          <a:prstGeom prst="line">
            <a:avLst/>
          </a:prstGeom>
          <a:ln w="15875">
            <a:solidFill>
              <a:srgbClr val="5F5F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Rounded Rectangle 102"/>
          <p:cNvSpPr/>
          <p:nvPr/>
        </p:nvSpPr>
        <p:spPr>
          <a:xfrm>
            <a:off x="3813048" y="1344168"/>
            <a:ext cx="1481328" cy="658368"/>
          </a:xfrm>
          <a:prstGeom prst="roundRect">
            <a:avLst>
              <a:gd name="adj" fmla="val 9722"/>
            </a:avLst>
          </a:prstGeom>
          <a:solidFill>
            <a:srgbClr val="E4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" name="TextBox 103"/>
          <p:cNvSpPr txBox="1"/>
          <p:nvPr/>
        </p:nvSpPr>
        <p:spPr>
          <a:xfrm>
            <a:off x="3849624" y="1344168"/>
            <a:ext cx="1408176" cy="65836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950" i="0">
                <a:solidFill>
                  <a:srgbClr val="1D1D1F"/>
                </a:solidFill>
                <a:latin typeface="Google Sans Flex SemiBold"/>
              </a:rPr>
              <a:t>Seller checks it</a:t>
            </a:r>
          </a:p>
          <a:p>
            <a:pPr algn="ctr">
              <a:spcAft>
                <a:spcPts val="0"/>
              </a:spcAft>
            </a:pPr>
            <a:r>
              <a:rPr sz="800" i="0">
                <a:solidFill>
                  <a:srgbClr val="5F5F64"/>
                </a:solidFill>
                <a:latin typeface="Google Sans Flex"/>
              </a:rPr>
              <a:t>+ optional vaccination card</a:t>
            </a:r>
          </a:p>
        </p:txBody>
      </p:sp>
      <p:cxnSp>
        <p:nvCxnSpPr>
          <p:cNvPr id="105" name="Connector 104"/>
          <p:cNvCxnSpPr/>
          <p:nvPr/>
        </p:nvCxnSpPr>
        <p:spPr>
          <a:xfrm>
            <a:off x="5294376" y="1673352"/>
            <a:ext cx="265176" cy="0"/>
          </a:xfrm>
          <a:prstGeom prst="line">
            <a:avLst/>
          </a:prstGeom>
          <a:ln w="15875">
            <a:solidFill>
              <a:srgbClr val="5F5F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Rounded Rectangle 105"/>
          <p:cNvSpPr/>
          <p:nvPr/>
        </p:nvSpPr>
        <p:spPr>
          <a:xfrm>
            <a:off x="5559552" y="1344168"/>
            <a:ext cx="1481328" cy="658368"/>
          </a:xfrm>
          <a:prstGeom prst="roundRect">
            <a:avLst>
              <a:gd name="adj" fmla="val 9722"/>
            </a:avLst>
          </a:prstGeom>
          <a:solidFill>
            <a:srgbClr val="E4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" name="TextBox 106"/>
          <p:cNvSpPr txBox="1"/>
          <p:nvPr/>
        </p:nvSpPr>
        <p:spPr>
          <a:xfrm>
            <a:off x="5596128" y="1344168"/>
            <a:ext cx="1408176" cy="65836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950" i="0">
                <a:solidFill>
                  <a:srgbClr val="1D1D1F"/>
                </a:solidFill>
                <a:latin typeface="Google Sans Flex SemiBold"/>
              </a:rPr>
              <a:t>Trust screening</a:t>
            </a:r>
          </a:p>
          <a:p>
            <a:pPr algn="ctr">
              <a:spcAft>
                <a:spcPts val="0"/>
              </a:spcAft>
            </a:pPr>
            <a:r>
              <a:rPr sz="800" i="0">
                <a:solidFill>
                  <a:srgbClr val="5F5F64"/>
                </a:solidFill>
                <a:latin typeface="Google Sans Flex"/>
              </a:rPr>
              <a:t>Gemini vision + rules in code</a:t>
            </a:r>
          </a:p>
        </p:txBody>
      </p:sp>
      <p:cxnSp>
        <p:nvCxnSpPr>
          <p:cNvPr id="108" name="Connector 107"/>
          <p:cNvCxnSpPr/>
          <p:nvPr/>
        </p:nvCxnSpPr>
        <p:spPr>
          <a:xfrm>
            <a:off x="7040880" y="1673352"/>
            <a:ext cx="265176" cy="0"/>
          </a:xfrm>
          <a:prstGeom prst="line">
            <a:avLst/>
          </a:prstGeom>
          <a:ln w="15875">
            <a:solidFill>
              <a:srgbClr val="5F5F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Rounded Rectangle 108"/>
          <p:cNvSpPr/>
          <p:nvPr/>
        </p:nvSpPr>
        <p:spPr>
          <a:xfrm>
            <a:off x="7306056" y="1298448"/>
            <a:ext cx="1481328" cy="329184"/>
          </a:xfrm>
          <a:prstGeom prst="roundRect">
            <a:avLst>
              <a:gd name="adj" fmla="val 19444"/>
            </a:avLst>
          </a:prstGeom>
          <a:solidFill>
            <a:srgbClr val="FBE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" name="TextBox 109"/>
          <p:cNvSpPr txBox="1"/>
          <p:nvPr/>
        </p:nvSpPr>
        <p:spPr>
          <a:xfrm>
            <a:off x="7342631" y="1298448"/>
            <a:ext cx="1408176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850" i="0">
                <a:solidFill>
                  <a:srgbClr val="C0261C"/>
                </a:solidFill>
                <a:latin typeface="Google Sans Flex SemiBold"/>
              </a:rPr>
              <a:t>BLOCKED</a:t>
            </a:r>
          </a:p>
          <a:p>
            <a:pPr algn="ctr">
              <a:spcAft>
                <a:spcPts val="0"/>
              </a:spcAft>
            </a:pPr>
            <a:r>
              <a:rPr sz="700" i="0">
                <a:solidFill>
                  <a:srgbClr val="5F5F64"/>
                </a:solidFill>
                <a:latin typeface="Google Sans Flex"/>
              </a:rPr>
              <a:t>never shown to buyers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7306056" y="1719072"/>
            <a:ext cx="1481328" cy="329184"/>
          </a:xfrm>
          <a:prstGeom prst="roundRect">
            <a:avLst>
              <a:gd name="adj" fmla="val 19444"/>
            </a:avLst>
          </a:prstGeom>
          <a:solidFill>
            <a:srgbClr val="E5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" name="TextBox 111"/>
          <p:cNvSpPr txBox="1"/>
          <p:nvPr/>
        </p:nvSpPr>
        <p:spPr>
          <a:xfrm>
            <a:off x="7342631" y="1719072"/>
            <a:ext cx="1408176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850" i="0">
                <a:solidFill>
                  <a:srgbClr val="1F6E43"/>
                </a:solidFill>
                <a:latin typeface="Google Sans Flex SemiBold"/>
              </a:rPr>
              <a:t>TRUSTED / CAUTION</a:t>
            </a:r>
          </a:p>
          <a:p>
            <a:pPr algn="ctr">
              <a:spcAft>
                <a:spcPts val="0"/>
              </a:spcAft>
            </a:pPr>
            <a:r>
              <a:rPr sz="700" i="0">
                <a:solidFill>
                  <a:srgbClr val="5F5F64"/>
                </a:solidFill>
                <a:latin typeface="Google Sans Flex"/>
              </a:rPr>
              <a:t>published with reasons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20040" y="2194560"/>
            <a:ext cx="182880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900" i="0">
                <a:solidFill>
                  <a:srgbClr val="1F6E43"/>
                </a:solidFill>
                <a:latin typeface="Google Sans Flex SemiBold"/>
              </a:rPr>
              <a:t>BUYER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320040" y="2441448"/>
            <a:ext cx="1481328" cy="658368"/>
          </a:xfrm>
          <a:prstGeom prst="roundRect">
            <a:avLst>
              <a:gd name="adj" fmla="val 9722"/>
            </a:avLst>
          </a:prstGeom>
          <a:solidFill>
            <a:srgbClr val="E5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5" name="TextBox 114"/>
          <p:cNvSpPr txBox="1"/>
          <p:nvPr/>
        </p:nvSpPr>
        <p:spPr>
          <a:xfrm>
            <a:off x="356615" y="2441448"/>
            <a:ext cx="1408176" cy="65836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950" i="0">
                <a:solidFill>
                  <a:srgbClr val="1D1D1F"/>
                </a:solidFill>
                <a:latin typeface="Google Sans Flex SemiBold"/>
              </a:rPr>
              <a:t>Pets with match %</a:t>
            </a:r>
          </a:p>
          <a:p>
            <a:pPr algn="ctr">
              <a:spcAft>
                <a:spcPts val="0"/>
              </a:spcAft>
            </a:pPr>
            <a:r>
              <a:rPr sz="800" i="0">
                <a:solidFill>
                  <a:srgbClr val="5F5F64"/>
                </a:solidFill>
                <a:latin typeface="Google Sans Flex"/>
              </a:rPr>
              <a:t>rules score your home</a:t>
            </a:r>
          </a:p>
        </p:txBody>
      </p:sp>
      <p:cxnSp>
        <p:nvCxnSpPr>
          <p:cNvPr id="116" name="Connector 115"/>
          <p:cNvCxnSpPr/>
          <p:nvPr/>
        </p:nvCxnSpPr>
        <p:spPr>
          <a:xfrm>
            <a:off x="1801368" y="2770632"/>
            <a:ext cx="265176" cy="0"/>
          </a:xfrm>
          <a:prstGeom prst="line">
            <a:avLst/>
          </a:prstGeom>
          <a:ln w="15875">
            <a:solidFill>
              <a:srgbClr val="5F5F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Rounded Rectangle 116"/>
          <p:cNvSpPr/>
          <p:nvPr/>
        </p:nvSpPr>
        <p:spPr>
          <a:xfrm>
            <a:off x="2066544" y="2441448"/>
            <a:ext cx="1481328" cy="658368"/>
          </a:xfrm>
          <a:prstGeom prst="roundRect">
            <a:avLst>
              <a:gd name="adj" fmla="val 9722"/>
            </a:avLst>
          </a:prstGeom>
          <a:solidFill>
            <a:srgbClr val="E5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" name="TextBox 117"/>
          <p:cNvSpPr txBox="1"/>
          <p:nvPr/>
        </p:nvSpPr>
        <p:spPr>
          <a:xfrm>
            <a:off x="2103120" y="2441448"/>
            <a:ext cx="1408176" cy="65836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950" i="0">
                <a:solidFill>
                  <a:srgbClr val="1D1D1F"/>
                </a:solidFill>
                <a:latin typeface="Google Sans Flex SemiBold"/>
              </a:rPr>
              <a:t>Listing + trust card</a:t>
            </a:r>
          </a:p>
          <a:p>
            <a:pPr algn="ctr">
              <a:spcAft>
                <a:spcPts val="0"/>
              </a:spcAft>
            </a:pPr>
            <a:r>
              <a:rPr sz="800" i="0">
                <a:solidFill>
                  <a:srgbClr val="5F5F64"/>
                </a:solidFill>
                <a:latin typeface="Google Sans Flex"/>
              </a:rPr>
              <a:t>reasons, fair price</a:t>
            </a:r>
          </a:p>
        </p:txBody>
      </p:sp>
      <p:cxnSp>
        <p:nvCxnSpPr>
          <p:cNvPr id="119" name="Connector 118"/>
          <p:cNvCxnSpPr/>
          <p:nvPr/>
        </p:nvCxnSpPr>
        <p:spPr>
          <a:xfrm>
            <a:off x="3547872" y="2770632"/>
            <a:ext cx="265176" cy="0"/>
          </a:xfrm>
          <a:prstGeom prst="line">
            <a:avLst/>
          </a:prstGeom>
          <a:ln w="15875">
            <a:solidFill>
              <a:srgbClr val="5F5F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0" name="Rounded Rectangle 119"/>
          <p:cNvSpPr/>
          <p:nvPr/>
        </p:nvSpPr>
        <p:spPr>
          <a:xfrm>
            <a:off x="3813048" y="2441448"/>
            <a:ext cx="1481328" cy="658368"/>
          </a:xfrm>
          <a:prstGeom prst="roundRect">
            <a:avLst>
              <a:gd name="adj" fmla="val 9722"/>
            </a:avLst>
          </a:prstGeom>
          <a:solidFill>
            <a:srgbClr val="E5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1" name="TextBox 120"/>
          <p:cNvSpPr txBox="1"/>
          <p:nvPr/>
        </p:nvSpPr>
        <p:spPr>
          <a:xfrm>
            <a:off x="3849624" y="2441448"/>
            <a:ext cx="1408176" cy="65836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950" i="0">
                <a:solidFill>
                  <a:srgbClr val="1D1D1F"/>
                </a:solidFill>
                <a:latin typeface="Google Sans Flex SemiBold"/>
              </a:rPr>
              <a:t>Message the breeder</a:t>
            </a:r>
          </a:p>
          <a:p>
            <a:pPr algn="ctr">
              <a:spcAft>
                <a:spcPts val="0"/>
              </a:spcAft>
            </a:pPr>
            <a:r>
              <a:rPr sz="800" i="0">
                <a:solidFill>
                  <a:srgbClr val="5F5F64"/>
                </a:solidFill>
                <a:latin typeface="Google Sans Flex"/>
              </a:rPr>
              <a:t>AI draft, scam shield</a:t>
            </a:r>
          </a:p>
        </p:txBody>
      </p:sp>
      <p:cxnSp>
        <p:nvCxnSpPr>
          <p:cNvPr id="122" name="Connector 121"/>
          <p:cNvCxnSpPr/>
          <p:nvPr/>
        </p:nvCxnSpPr>
        <p:spPr>
          <a:xfrm>
            <a:off x="5294376" y="2770632"/>
            <a:ext cx="265176" cy="0"/>
          </a:xfrm>
          <a:prstGeom prst="line">
            <a:avLst/>
          </a:prstGeom>
          <a:ln w="15875">
            <a:solidFill>
              <a:srgbClr val="5F5F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3" name="Rounded Rectangle 122"/>
          <p:cNvSpPr/>
          <p:nvPr/>
        </p:nvSpPr>
        <p:spPr>
          <a:xfrm>
            <a:off x="5559552" y="2441448"/>
            <a:ext cx="1481328" cy="658368"/>
          </a:xfrm>
          <a:prstGeom prst="roundRect">
            <a:avLst>
              <a:gd name="adj" fmla="val 9722"/>
            </a:avLst>
          </a:prstGeom>
          <a:solidFill>
            <a:srgbClr val="E5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4" name="TextBox 123"/>
          <p:cNvSpPr txBox="1"/>
          <p:nvPr/>
        </p:nvSpPr>
        <p:spPr>
          <a:xfrm>
            <a:off x="5596128" y="2441448"/>
            <a:ext cx="1408176" cy="65836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950" i="0">
                <a:solidFill>
                  <a:srgbClr val="1D1D1F"/>
                </a:solidFill>
                <a:latin typeface="Google Sans Flex SemiBold"/>
              </a:rPr>
              <a:t>Book a visit</a:t>
            </a:r>
          </a:p>
          <a:p>
            <a:pPr algn="ctr">
              <a:spcAft>
                <a:spcPts val="0"/>
              </a:spcAft>
            </a:pPr>
            <a:r>
              <a:rPr sz="800" i="0">
                <a:solidFill>
                  <a:srgbClr val="5F5F64"/>
                </a:solidFill>
                <a:latin typeface="Google Sans Flex"/>
              </a:rPr>
              <a:t>seller confirms</a:t>
            </a:r>
          </a:p>
        </p:txBody>
      </p:sp>
      <p:cxnSp>
        <p:nvCxnSpPr>
          <p:cNvPr id="125" name="Connector 124"/>
          <p:cNvCxnSpPr/>
          <p:nvPr/>
        </p:nvCxnSpPr>
        <p:spPr>
          <a:xfrm>
            <a:off x="7040880" y="2770632"/>
            <a:ext cx="265176" cy="0"/>
          </a:xfrm>
          <a:prstGeom prst="line">
            <a:avLst/>
          </a:prstGeom>
          <a:ln w="15875">
            <a:solidFill>
              <a:srgbClr val="5F5F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Rounded Rectangle 125"/>
          <p:cNvSpPr/>
          <p:nvPr/>
        </p:nvSpPr>
        <p:spPr>
          <a:xfrm>
            <a:off x="7306056" y="2441448"/>
            <a:ext cx="1481328" cy="658368"/>
          </a:xfrm>
          <a:prstGeom prst="roundRect">
            <a:avLst>
              <a:gd name="adj" fmla="val 9722"/>
            </a:avLst>
          </a:prstGeom>
          <a:solidFill>
            <a:srgbClr val="E5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7" name="TextBox 126"/>
          <p:cNvSpPr txBox="1"/>
          <p:nvPr/>
        </p:nvSpPr>
        <p:spPr>
          <a:xfrm>
            <a:off x="7342631" y="2441448"/>
            <a:ext cx="1408176" cy="65836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950" i="0">
                <a:solidFill>
                  <a:srgbClr val="1D1D1F"/>
                </a:solidFill>
                <a:latin typeface="Google Sans Flex SemiBold"/>
              </a:rPr>
              <a:t>See it, pay in person</a:t>
            </a:r>
          </a:p>
          <a:p>
            <a:pPr algn="ctr">
              <a:spcAft>
                <a:spcPts val="0"/>
              </a:spcAft>
            </a:pPr>
            <a:r>
              <a:rPr sz="800" i="0">
                <a:solidFill>
                  <a:srgbClr val="5F5F64"/>
                </a:solidFill>
                <a:latin typeface="Google Sans Flex"/>
              </a:rPr>
              <a:t>“I bought this pet”</a:t>
            </a:r>
          </a:p>
        </p:txBody>
      </p:sp>
      <p:cxnSp>
        <p:nvCxnSpPr>
          <p:cNvPr id="128" name="Connector 127"/>
          <p:cNvCxnSpPr/>
          <p:nvPr/>
        </p:nvCxnSpPr>
        <p:spPr>
          <a:xfrm flipH="1">
            <a:off x="2807208" y="2048256"/>
            <a:ext cx="5239512" cy="393192"/>
          </a:xfrm>
          <a:prstGeom prst="line">
            <a:avLst/>
          </a:prstGeom>
          <a:ln w="15875">
            <a:solidFill>
              <a:srgbClr val="1F6E4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9" name="TextBox 128"/>
          <p:cNvSpPr txBox="1"/>
          <p:nvPr/>
        </p:nvSpPr>
        <p:spPr>
          <a:xfrm>
            <a:off x="4878324" y="2061972"/>
            <a:ext cx="1097280" cy="16459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i="0">
                <a:solidFill>
                  <a:srgbClr val="5F5F64"/>
                </a:solidFill>
                <a:latin typeface="Google Sans Flex"/>
              </a:rPr>
              <a:t>published listings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7306056" y="3447288"/>
            <a:ext cx="1481328" cy="658368"/>
          </a:xfrm>
          <a:prstGeom prst="roundRect">
            <a:avLst>
              <a:gd name="adj" fmla="val 9722"/>
            </a:avLst>
          </a:prstGeom>
          <a:solidFill>
            <a:srgbClr val="FBE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1" name="TextBox 130"/>
          <p:cNvSpPr txBox="1"/>
          <p:nvPr/>
        </p:nvSpPr>
        <p:spPr>
          <a:xfrm>
            <a:off x="7342631" y="3447288"/>
            <a:ext cx="1408176" cy="65836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950" i="0">
                <a:solidFill>
                  <a:srgbClr val="1D1D1F"/>
                </a:solidFill>
                <a:latin typeface="Google Sans Flex SemiBold"/>
              </a:rPr>
              <a:t>My pets</a:t>
            </a:r>
          </a:p>
          <a:p>
            <a:pPr algn="ctr">
              <a:spcAft>
                <a:spcPts val="0"/>
              </a:spcAft>
            </a:pPr>
            <a:r>
              <a:rPr sz="800" i="0">
                <a:solidFill>
                  <a:srgbClr val="5F5F64"/>
                </a:solidFill>
                <a:latin typeface="Google Sans Flex"/>
              </a:rPr>
              <a:t>daily log, growth, calendar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5559552" y="3447288"/>
            <a:ext cx="1481328" cy="658368"/>
          </a:xfrm>
          <a:prstGeom prst="roundRect">
            <a:avLst>
              <a:gd name="adj" fmla="val 9722"/>
            </a:avLst>
          </a:prstGeom>
          <a:solidFill>
            <a:srgbClr val="FBE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3" name="TextBox 132"/>
          <p:cNvSpPr txBox="1"/>
          <p:nvPr/>
        </p:nvSpPr>
        <p:spPr>
          <a:xfrm>
            <a:off x="5596128" y="3447288"/>
            <a:ext cx="1408176" cy="65836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950" i="0">
                <a:solidFill>
                  <a:srgbClr val="1D1D1F"/>
                </a:solidFill>
                <a:latin typeface="Google Sans Flex SemiBold"/>
              </a:rPr>
              <a:t>Symptom checker</a:t>
            </a:r>
          </a:p>
          <a:p>
            <a:pPr algn="ctr">
              <a:spcAft>
                <a:spcPts val="0"/>
              </a:spcAft>
            </a:pPr>
            <a:r>
              <a:rPr sz="800" i="0">
                <a:solidFill>
                  <a:srgbClr val="5F5F64"/>
                </a:solidFill>
                <a:latin typeface="Google Sans Flex"/>
              </a:rPr>
              <a:t>urgency + vet, never doses</a:t>
            </a:r>
          </a:p>
        </p:txBody>
      </p:sp>
      <p:cxnSp>
        <p:nvCxnSpPr>
          <p:cNvPr id="134" name="Connector 133"/>
          <p:cNvCxnSpPr/>
          <p:nvPr/>
        </p:nvCxnSpPr>
        <p:spPr>
          <a:xfrm>
            <a:off x="8046720" y="3099815"/>
            <a:ext cx="0" cy="347473"/>
          </a:xfrm>
          <a:prstGeom prst="line">
            <a:avLst/>
          </a:prstGeom>
          <a:ln w="15875">
            <a:solidFill>
              <a:srgbClr val="5F5F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Connector 134"/>
          <p:cNvCxnSpPr/>
          <p:nvPr/>
        </p:nvCxnSpPr>
        <p:spPr>
          <a:xfrm flipH="1">
            <a:off x="7040880" y="3776472"/>
            <a:ext cx="265176" cy="0"/>
          </a:xfrm>
          <a:prstGeom prst="line">
            <a:avLst/>
          </a:prstGeom>
          <a:ln w="15875">
            <a:solidFill>
              <a:srgbClr val="5F5F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6" name="Rounded Rectangle 135"/>
          <p:cNvSpPr/>
          <p:nvPr/>
        </p:nvSpPr>
        <p:spPr>
          <a:xfrm>
            <a:off x="320040" y="3447288"/>
            <a:ext cx="1481328" cy="658368"/>
          </a:xfrm>
          <a:prstGeom prst="roundRect">
            <a:avLst>
              <a:gd name="adj" fmla="val 9722"/>
            </a:avLst>
          </a:prstGeom>
          <a:solidFill>
            <a:srgbClr val="F3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7" name="TextBox 136"/>
          <p:cNvSpPr txBox="1"/>
          <p:nvPr/>
        </p:nvSpPr>
        <p:spPr>
          <a:xfrm>
            <a:off x="356615" y="3447288"/>
            <a:ext cx="1408176" cy="65836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950" i="0">
                <a:solidFill>
                  <a:srgbClr val="1D1D1F"/>
                </a:solidFill>
                <a:latin typeface="Google Sans Flex SemiBold"/>
              </a:rPr>
              <a:t>Post in a WhatsApp group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2066544" y="3447288"/>
            <a:ext cx="1481328" cy="658368"/>
          </a:xfrm>
          <a:prstGeom prst="roundRect">
            <a:avLst>
              <a:gd name="adj" fmla="val 9722"/>
            </a:avLst>
          </a:prstGeom>
          <a:solidFill>
            <a:srgbClr val="F3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9" name="TextBox 138"/>
          <p:cNvSpPr txBox="1"/>
          <p:nvPr/>
        </p:nvSpPr>
        <p:spPr>
          <a:xfrm>
            <a:off x="2103120" y="3447288"/>
            <a:ext cx="1408176" cy="65836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950" i="0">
                <a:solidFill>
                  <a:srgbClr val="1D1D1F"/>
                </a:solidFill>
                <a:latin typeface="Google Sans Flex SemiBold"/>
              </a:rPr>
              <a:t>“Is this post safe?”</a:t>
            </a:r>
          </a:p>
          <a:p>
            <a:pPr algn="ctr">
              <a:spcAft>
                <a:spcPts val="0"/>
              </a:spcAft>
            </a:pPr>
            <a:r>
              <a:rPr sz="800" i="0">
                <a:solidFill>
                  <a:srgbClr val="5F5F64"/>
                </a:solidFill>
                <a:latin typeface="Google Sans Flex"/>
              </a:rPr>
              <a:t>nothing is stored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3813048" y="3447288"/>
            <a:ext cx="1481328" cy="658368"/>
          </a:xfrm>
          <a:prstGeom prst="roundRect">
            <a:avLst>
              <a:gd name="adj" fmla="val 9722"/>
            </a:avLst>
          </a:prstGeom>
          <a:solidFill>
            <a:srgbClr val="FBE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1" name="TextBox 140"/>
          <p:cNvSpPr txBox="1"/>
          <p:nvPr/>
        </p:nvSpPr>
        <p:spPr>
          <a:xfrm>
            <a:off x="3849624" y="3447288"/>
            <a:ext cx="1408176" cy="65836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950" i="0">
                <a:solidFill>
                  <a:srgbClr val="9A5700"/>
                </a:solidFill>
                <a:latin typeface="Google Sans Flex SemiBold"/>
              </a:rPr>
              <a:t>CAUTION + questions</a:t>
            </a:r>
          </a:p>
          <a:p>
            <a:pPr algn="ctr">
              <a:spcAft>
                <a:spcPts val="0"/>
              </a:spcAft>
            </a:pPr>
            <a:r>
              <a:rPr sz="800" i="0">
                <a:solidFill>
                  <a:srgbClr val="5F5F64"/>
                </a:solidFill>
                <a:latin typeface="Google Sans Flex"/>
              </a:rPr>
              <a:t>never pay before visiting</a:t>
            </a:r>
          </a:p>
        </p:txBody>
      </p:sp>
      <p:cxnSp>
        <p:nvCxnSpPr>
          <p:cNvPr id="142" name="Connector 141"/>
          <p:cNvCxnSpPr/>
          <p:nvPr/>
        </p:nvCxnSpPr>
        <p:spPr>
          <a:xfrm>
            <a:off x="1801368" y="3776472"/>
            <a:ext cx="265176" cy="0"/>
          </a:xfrm>
          <a:prstGeom prst="line">
            <a:avLst/>
          </a:prstGeom>
          <a:ln w="15875">
            <a:solidFill>
              <a:srgbClr val="5F5F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Connector 142"/>
          <p:cNvCxnSpPr/>
          <p:nvPr/>
        </p:nvCxnSpPr>
        <p:spPr>
          <a:xfrm>
            <a:off x="3547872" y="3776472"/>
            <a:ext cx="265176" cy="0"/>
          </a:xfrm>
          <a:prstGeom prst="line">
            <a:avLst/>
          </a:prstGeom>
          <a:ln w="15875">
            <a:solidFill>
              <a:srgbClr val="5F5F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4" name="TextBox 143"/>
          <p:cNvSpPr txBox="1"/>
          <p:nvPr/>
        </p:nvSpPr>
        <p:spPr>
          <a:xfrm>
            <a:off x="320040" y="4645152"/>
            <a:ext cx="85039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850" i="0">
                <a:solidFill>
                  <a:srgbClr val="5F5F64"/>
                </a:solidFill>
                <a:latin typeface="Google Sans Flex"/>
              </a:rPr>
              <a:t>Every step works by tapping, or by asking BreederNear AI in chat: the same tools, the same checks. Sellers also earn a Verified breeder badge.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19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19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19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p19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Wireframes/Mock diagrams of the proposed solution (optional)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04" name="Picture 103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9975" y="1115568"/>
            <a:ext cx="1501330" cy="3246120"/>
          </a:xfrm>
          <a:prstGeom prst="rect">
            <a:avLst/>
          </a:prstGeom>
          <a:ln w="9525">
            <a:solidFill>
              <a:srgbClr val="D6D6D2"/>
            </a:solidFill>
          </a:ln>
        </p:spPr>
      </p:pic>
      <p:sp>
        <p:nvSpPr>
          <p:cNvPr id="105" name="TextBox 104"/>
          <p:cNvSpPr txBox="1"/>
          <p:nvPr/>
        </p:nvSpPr>
        <p:spPr>
          <a:xfrm>
            <a:off x="172815" y="4398264"/>
            <a:ext cx="177565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i="0">
                <a:solidFill>
                  <a:srgbClr val="5F5F64"/>
                </a:solidFill>
                <a:latin typeface="Google Sans Flex"/>
              </a:rPr>
              <a:t>Sign in or one-tap demo</a:t>
            </a:r>
          </a:p>
        </p:txBody>
      </p:sp>
      <p:pic>
        <p:nvPicPr>
          <p:cNvPr id="106" name="Picture 105" descr="imag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065991" y="1115568"/>
            <a:ext cx="1501330" cy="3246120"/>
          </a:xfrm>
          <a:prstGeom prst="rect">
            <a:avLst/>
          </a:prstGeom>
          <a:ln w="9525">
            <a:solidFill>
              <a:srgbClr val="D6D6D2"/>
            </a:solidFill>
          </a:ln>
        </p:spPr>
      </p:pic>
      <p:sp>
        <p:nvSpPr>
          <p:cNvPr id="107" name="TextBox 106"/>
          <p:cNvSpPr txBox="1"/>
          <p:nvPr/>
        </p:nvSpPr>
        <p:spPr>
          <a:xfrm>
            <a:off x="1928831" y="4398264"/>
            <a:ext cx="177565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i="0">
                <a:solidFill>
                  <a:srgbClr val="5F5F64"/>
                </a:solidFill>
                <a:latin typeface="Google Sans Flex"/>
              </a:rPr>
              <a:t>Pets with match %</a:t>
            </a:r>
          </a:p>
        </p:txBody>
      </p:sp>
      <p:pic>
        <p:nvPicPr>
          <p:cNvPr id="108" name="Picture 107" descr="image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22007" y="1115568"/>
            <a:ext cx="1501330" cy="3246120"/>
          </a:xfrm>
          <a:prstGeom prst="rect">
            <a:avLst/>
          </a:prstGeom>
          <a:ln w="9525">
            <a:solidFill>
              <a:srgbClr val="D6D6D2"/>
            </a:solidFill>
          </a:ln>
        </p:spPr>
      </p:pic>
      <p:sp>
        <p:nvSpPr>
          <p:cNvPr id="109" name="TextBox 108"/>
          <p:cNvSpPr txBox="1"/>
          <p:nvPr/>
        </p:nvSpPr>
        <p:spPr>
          <a:xfrm>
            <a:off x="3684847" y="4398264"/>
            <a:ext cx="177565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i="0">
                <a:solidFill>
                  <a:srgbClr val="5F5F64"/>
                </a:solidFill>
                <a:latin typeface="Google Sans Flex"/>
              </a:rPr>
              <a:t>Listing + trust checks</a:t>
            </a:r>
          </a:p>
        </p:txBody>
      </p:sp>
      <p:pic>
        <p:nvPicPr>
          <p:cNvPr id="110" name="Picture 109" descr="image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578024" y="1115568"/>
            <a:ext cx="1501330" cy="3246120"/>
          </a:xfrm>
          <a:prstGeom prst="rect">
            <a:avLst/>
          </a:prstGeom>
          <a:ln w="9525">
            <a:solidFill>
              <a:srgbClr val="D6D6D2"/>
            </a:solidFill>
          </a:ln>
        </p:spPr>
      </p:pic>
      <p:sp>
        <p:nvSpPr>
          <p:cNvPr id="111" name="TextBox 110"/>
          <p:cNvSpPr txBox="1"/>
          <p:nvPr/>
        </p:nvSpPr>
        <p:spPr>
          <a:xfrm>
            <a:off x="5440864" y="4398264"/>
            <a:ext cx="177565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i="0">
                <a:solidFill>
                  <a:srgbClr val="5F5F64"/>
                </a:solidFill>
                <a:latin typeface="Google Sans Flex"/>
              </a:rPr>
              <a:t>Visits, then “I bought it”</a:t>
            </a:r>
          </a:p>
        </p:txBody>
      </p:sp>
      <p:pic>
        <p:nvPicPr>
          <p:cNvPr id="112" name="Picture 111" descr="image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334040" y="1115568"/>
            <a:ext cx="1501330" cy="3246120"/>
          </a:xfrm>
          <a:prstGeom prst="rect">
            <a:avLst/>
          </a:prstGeom>
          <a:ln w="9525">
            <a:solidFill>
              <a:srgbClr val="D6D6D2"/>
            </a:solidFill>
          </a:ln>
        </p:spPr>
      </p:pic>
      <p:sp>
        <p:nvSpPr>
          <p:cNvPr id="113" name="TextBox 112"/>
          <p:cNvSpPr txBox="1"/>
          <p:nvPr/>
        </p:nvSpPr>
        <p:spPr>
          <a:xfrm>
            <a:off x="7196880" y="4398264"/>
            <a:ext cx="177565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i="0">
                <a:solidFill>
                  <a:srgbClr val="5F5F64"/>
                </a:solidFill>
                <a:latin typeface="Google Sans Flex"/>
              </a:rPr>
              <a:t>My pets companion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108;p20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20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20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20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Architecture diagram of the proposed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12" name="Rounded Rectangle 111"/>
          <p:cNvSpPr/>
          <p:nvPr/>
        </p:nvSpPr>
        <p:spPr>
          <a:xfrm>
            <a:off x="320040" y="1188720"/>
            <a:ext cx="1234440" cy="530352"/>
          </a:xfrm>
          <a:prstGeom prst="roundRect">
            <a:avLst>
              <a:gd name="adj" fmla="val 12068"/>
            </a:avLst>
          </a:prstGeom>
          <a:solidFill>
            <a:srgbClr val="F3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" name="TextBox 112"/>
          <p:cNvSpPr txBox="1"/>
          <p:nvPr/>
        </p:nvSpPr>
        <p:spPr>
          <a:xfrm>
            <a:off x="356615" y="1188720"/>
            <a:ext cx="1161288" cy="53035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950" i="0">
                <a:solidFill>
                  <a:srgbClr val="1D1D1F"/>
                </a:solidFill>
                <a:latin typeface="Google Sans Flex SemiBold"/>
              </a:rPr>
              <a:t>Buyers &amp; sellers</a:t>
            </a:r>
          </a:p>
          <a:p>
            <a:pPr algn="ctr">
              <a:spcAft>
                <a:spcPts val="0"/>
              </a:spcAft>
            </a:pPr>
            <a:r>
              <a:rPr sz="800" i="0">
                <a:solidFill>
                  <a:srgbClr val="5F5F64"/>
                </a:solidFill>
                <a:latin typeface="Google Sans Flex"/>
              </a:rPr>
              <a:t>phone or laptop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320040" y="1965960"/>
            <a:ext cx="1234440" cy="658368"/>
          </a:xfrm>
          <a:prstGeom prst="roundRect">
            <a:avLst>
              <a:gd name="adj" fmla="val 9722"/>
            </a:avLst>
          </a:prstGeom>
          <a:solidFill>
            <a:srgbClr val="FBE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5" name="TextBox 114"/>
          <p:cNvSpPr txBox="1"/>
          <p:nvPr/>
        </p:nvSpPr>
        <p:spPr>
          <a:xfrm>
            <a:off x="356615" y="1965960"/>
            <a:ext cx="1161288" cy="65836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950" i="0">
                <a:solidFill>
                  <a:srgbClr val="9A5700"/>
                </a:solidFill>
                <a:latin typeface="Google Sans Flex SemiBold"/>
              </a:rPr>
              <a:t>Firebase Hosting</a:t>
            </a:r>
          </a:p>
          <a:p>
            <a:pPr algn="ctr">
              <a:spcAft>
                <a:spcPts val="0"/>
              </a:spcAft>
            </a:pPr>
            <a:r>
              <a:rPr sz="800" i="0">
                <a:solidFill>
                  <a:srgbClr val="5F5F64"/>
                </a:solidFill>
                <a:latin typeface="Google Sans Flex"/>
              </a:rPr>
              <a:t>web app on Google’s CDN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320040" y="2834640"/>
            <a:ext cx="1234440" cy="658368"/>
          </a:xfrm>
          <a:prstGeom prst="roundRect">
            <a:avLst>
              <a:gd name="adj" fmla="val 9722"/>
            </a:avLst>
          </a:prstGeom>
          <a:solidFill>
            <a:srgbClr val="FBE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" name="TextBox 116"/>
          <p:cNvSpPr txBox="1"/>
          <p:nvPr/>
        </p:nvSpPr>
        <p:spPr>
          <a:xfrm>
            <a:off x="356615" y="2834640"/>
            <a:ext cx="1161288" cy="65836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950" i="0">
                <a:solidFill>
                  <a:srgbClr val="9A5700"/>
                </a:solidFill>
                <a:latin typeface="Google Sans Flex SemiBold"/>
              </a:rPr>
              <a:t>Firebase Auth</a:t>
            </a:r>
          </a:p>
          <a:p>
            <a:pPr algn="ctr">
              <a:spcAft>
                <a:spcPts val="0"/>
              </a:spcAft>
            </a:pPr>
            <a:r>
              <a:rPr sz="800" i="0">
                <a:solidFill>
                  <a:srgbClr val="5F5F64"/>
                </a:solidFill>
                <a:latin typeface="Google Sans Flex"/>
              </a:rPr>
              <a:t>Google sign-in (ID token)</a:t>
            </a:r>
          </a:p>
        </p:txBody>
      </p:sp>
      <p:cxnSp>
        <p:nvCxnSpPr>
          <p:cNvPr id="118" name="Connector 117"/>
          <p:cNvCxnSpPr/>
          <p:nvPr/>
        </p:nvCxnSpPr>
        <p:spPr>
          <a:xfrm>
            <a:off x="932688" y="1719072"/>
            <a:ext cx="0" cy="246888"/>
          </a:xfrm>
          <a:prstGeom prst="line">
            <a:avLst/>
          </a:prstGeom>
          <a:ln w="15875">
            <a:solidFill>
              <a:srgbClr val="5F5F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" name="Rounded Rectangle 118"/>
          <p:cNvSpPr/>
          <p:nvPr/>
        </p:nvSpPr>
        <p:spPr>
          <a:xfrm>
            <a:off x="1920240" y="1143000"/>
            <a:ext cx="4206240" cy="3474720"/>
          </a:xfrm>
          <a:prstGeom prst="roundRect">
            <a:avLst>
              <a:gd name="adj" fmla="val 2631"/>
            </a:avLst>
          </a:prstGeom>
          <a:solidFill>
            <a:srgbClr val="FFFFFF"/>
          </a:solidFill>
          <a:ln w="12700">
            <a:solidFill>
              <a:srgbClr val="1F5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0" name="TextBox 119"/>
          <p:cNvSpPr txBox="1"/>
          <p:nvPr/>
        </p:nvSpPr>
        <p:spPr>
          <a:xfrm>
            <a:off x="2029968" y="1188720"/>
            <a:ext cx="420624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i="0">
                <a:solidFill>
                  <a:srgbClr val="1F5FA8"/>
                </a:solidFill>
                <a:latin typeface="Google Sans Flex SemiBold"/>
              </a:rPr>
              <a:t>Cloud Run (asia-south1)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2057400" y="1472184"/>
            <a:ext cx="3931920" cy="365760"/>
          </a:xfrm>
          <a:prstGeom prst="roundRect">
            <a:avLst>
              <a:gd name="adj" fmla="val 17500"/>
            </a:avLst>
          </a:prstGeom>
          <a:solidFill>
            <a:srgbClr val="F3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2" name="TextBox 121"/>
          <p:cNvSpPr txBox="1"/>
          <p:nvPr/>
        </p:nvSpPr>
        <p:spPr>
          <a:xfrm>
            <a:off x="2093976" y="1472184"/>
            <a:ext cx="3858768" cy="3657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850" i="0">
                <a:solidFill>
                  <a:srgbClr val="1D1D1F"/>
                </a:solidFill>
                <a:latin typeface="Google Sans Flex SemiBold"/>
              </a:rPr>
              <a:t>Gatekeeper · login · rate limits · Gemini retries</a:t>
            </a:r>
          </a:p>
          <a:p>
            <a:pPr algn="ctr">
              <a:spcAft>
                <a:spcPts val="0"/>
              </a:spcAft>
            </a:pPr>
            <a:r>
              <a:rPr sz="700" i="0">
                <a:solidFill>
                  <a:srgbClr val="5F5F64"/>
                </a:solidFill>
                <a:latin typeface="Google Sans Flex"/>
              </a:rPr>
              <a:t>only the routes the app uses; roles from the server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2057400" y="1947672"/>
            <a:ext cx="1188720" cy="731520"/>
          </a:xfrm>
          <a:prstGeom prst="roundRect">
            <a:avLst>
              <a:gd name="adj" fmla="val 8750"/>
            </a:avLst>
          </a:prstGeom>
          <a:solidFill>
            <a:srgbClr val="E4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4" name="TextBox 123"/>
          <p:cNvSpPr txBox="1"/>
          <p:nvPr/>
        </p:nvSpPr>
        <p:spPr>
          <a:xfrm>
            <a:off x="2093976" y="1947672"/>
            <a:ext cx="1115568" cy="7315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900" i="0">
                <a:solidFill>
                  <a:srgbClr val="1D1D1F"/>
                </a:solidFill>
                <a:latin typeface="Google Sans Flex SemiBold"/>
              </a:rPr>
              <a:t>FastAPI /api</a:t>
            </a:r>
          </a:p>
          <a:p>
            <a:pPr algn="ctr">
              <a:spcAft>
                <a:spcPts val="0"/>
              </a:spcAft>
            </a:pPr>
            <a:r>
              <a:rPr sz="750" i="0">
                <a:solidFill>
                  <a:srgbClr val="5F5F64"/>
                </a:solidFill>
                <a:latin typeface="Google Sans Flex"/>
              </a:rPr>
              <a:t>tap screens</a:t>
            </a:r>
          </a:p>
        </p:txBody>
      </p:sp>
      <p:sp>
        <p:nvSpPr>
          <p:cNvPr id="125" name="Rounded Rectangle 124"/>
          <p:cNvSpPr/>
          <p:nvPr/>
        </p:nvSpPr>
        <p:spPr>
          <a:xfrm>
            <a:off x="3383280" y="1947672"/>
            <a:ext cx="2606039" cy="1481328"/>
          </a:xfrm>
          <a:prstGeom prst="roundRect">
            <a:avLst>
              <a:gd name="adj" fmla="val 4320"/>
            </a:avLst>
          </a:prstGeom>
          <a:solidFill>
            <a:srgbClr val="E4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6" name="TextBox 125"/>
          <p:cNvSpPr txBox="1"/>
          <p:nvPr/>
        </p:nvSpPr>
        <p:spPr>
          <a:xfrm>
            <a:off x="3429000" y="1965960"/>
            <a:ext cx="251459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i="0">
                <a:solidFill>
                  <a:srgbClr val="1F5FA8"/>
                </a:solidFill>
                <a:latin typeface="Google Sans Flex SemiBold"/>
              </a:rPr>
              <a:t>Google ADK: 7 agents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4142232" y="2185415"/>
            <a:ext cx="1188720" cy="256032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8" name="TextBox 127"/>
          <p:cNvSpPr txBox="1"/>
          <p:nvPr/>
        </p:nvSpPr>
        <p:spPr>
          <a:xfrm>
            <a:off x="4178808" y="2185415"/>
            <a:ext cx="111556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800" i="0">
                <a:solidFill>
                  <a:srgbClr val="1D1D1F"/>
                </a:solidFill>
                <a:latin typeface="Google Sans Flex SemiBold"/>
              </a:rPr>
              <a:t>Concierge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3456432" y="2532888"/>
            <a:ext cx="804672" cy="246888"/>
          </a:xfrm>
          <a:prstGeom prst="roundRect">
            <a:avLst>
              <a:gd name="adj" fmla="val 25925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" name="TextBox 129"/>
          <p:cNvSpPr txBox="1"/>
          <p:nvPr/>
        </p:nvSpPr>
        <p:spPr>
          <a:xfrm>
            <a:off x="3493008" y="2532888"/>
            <a:ext cx="731520" cy="24688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750" i="0">
                <a:solidFill>
                  <a:srgbClr val="1D1D1F"/>
                </a:solidFill>
                <a:latin typeface="Google Sans Flex SemiBold"/>
              </a:rPr>
              <a:t>Listing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4325112" y="2532888"/>
            <a:ext cx="804672" cy="246888"/>
          </a:xfrm>
          <a:prstGeom prst="roundRect">
            <a:avLst>
              <a:gd name="adj" fmla="val 25925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2" name="TextBox 131"/>
          <p:cNvSpPr txBox="1"/>
          <p:nvPr/>
        </p:nvSpPr>
        <p:spPr>
          <a:xfrm>
            <a:off x="4361688" y="2532888"/>
            <a:ext cx="731520" cy="24688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750" i="0">
                <a:solidFill>
                  <a:srgbClr val="1D1D1F"/>
                </a:solidFill>
                <a:latin typeface="Google Sans Flex SemiBold"/>
              </a:rPr>
              <a:t>Trust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5193792" y="2532888"/>
            <a:ext cx="804672" cy="246888"/>
          </a:xfrm>
          <a:prstGeom prst="roundRect">
            <a:avLst>
              <a:gd name="adj" fmla="val 25925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4" name="TextBox 133"/>
          <p:cNvSpPr txBox="1"/>
          <p:nvPr/>
        </p:nvSpPr>
        <p:spPr>
          <a:xfrm>
            <a:off x="5230368" y="2532888"/>
            <a:ext cx="731520" cy="24688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750" i="0">
                <a:solidFill>
                  <a:srgbClr val="1D1D1F"/>
                </a:solidFill>
                <a:latin typeface="Google Sans Flex SemiBold"/>
              </a:rPr>
              <a:t>Match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3456432" y="2834640"/>
            <a:ext cx="804672" cy="246888"/>
          </a:xfrm>
          <a:prstGeom prst="roundRect">
            <a:avLst>
              <a:gd name="adj" fmla="val 25925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6" name="TextBox 135"/>
          <p:cNvSpPr txBox="1"/>
          <p:nvPr/>
        </p:nvSpPr>
        <p:spPr>
          <a:xfrm>
            <a:off x="3493008" y="2834640"/>
            <a:ext cx="731520" cy="24688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750" i="0">
                <a:solidFill>
                  <a:srgbClr val="1D1D1F"/>
                </a:solidFill>
                <a:latin typeface="Google Sans Flex SemiBold"/>
              </a:rPr>
              <a:t>Care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4325112" y="2834640"/>
            <a:ext cx="804672" cy="246888"/>
          </a:xfrm>
          <a:prstGeom prst="roundRect">
            <a:avLst>
              <a:gd name="adj" fmla="val 25925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8" name="TextBox 137"/>
          <p:cNvSpPr txBox="1"/>
          <p:nvPr/>
        </p:nvSpPr>
        <p:spPr>
          <a:xfrm>
            <a:off x="4361688" y="2834640"/>
            <a:ext cx="731520" cy="24688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750" i="0">
                <a:solidFill>
                  <a:srgbClr val="1D1D1F"/>
                </a:solidFill>
                <a:latin typeface="Google Sans Flex SemiBold"/>
              </a:rPr>
              <a:t>Verify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5193792" y="2834640"/>
            <a:ext cx="804672" cy="246888"/>
          </a:xfrm>
          <a:prstGeom prst="roundRect">
            <a:avLst>
              <a:gd name="adj" fmla="val 25925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0" name="TextBox 139"/>
          <p:cNvSpPr txBox="1"/>
          <p:nvPr/>
        </p:nvSpPr>
        <p:spPr>
          <a:xfrm>
            <a:off x="5230368" y="2834640"/>
            <a:ext cx="731520" cy="24688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750" i="0">
                <a:solidFill>
                  <a:srgbClr val="1D1D1F"/>
                </a:solidFill>
                <a:latin typeface="Google Sans Flex SemiBold"/>
              </a:rPr>
              <a:t>Companion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3429000" y="3127248"/>
            <a:ext cx="2514599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i="0">
                <a:solidFill>
                  <a:srgbClr val="5F5F64"/>
                </a:solidFill>
                <a:latin typeface="Google Sans Flex"/>
              </a:rPr>
              <a:t>callbacks: context · reply guard · tool log</a:t>
            </a:r>
          </a:p>
        </p:txBody>
      </p:sp>
      <p:sp>
        <p:nvSpPr>
          <p:cNvPr id="142" name="Rounded Rectangle 141"/>
          <p:cNvSpPr/>
          <p:nvPr/>
        </p:nvSpPr>
        <p:spPr>
          <a:xfrm>
            <a:off x="2057400" y="3538728"/>
            <a:ext cx="3931920" cy="960120"/>
          </a:xfrm>
          <a:prstGeom prst="roundRect">
            <a:avLst>
              <a:gd name="adj" fmla="val 6666"/>
            </a:avLst>
          </a:prstGeom>
          <a:solidFill>
            <a:srgbClr val="E5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3" name="TextBox 142"/>
          <p:cNvSpPr txBox="1"/>
          <p:nvPr/>
        </p:nvSpPr>
        <p:spPr>
          <a:xfrm>
            <a:off x="2093976" y="3538728"/>
            <a:ext cx="3858768" cy="9601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900" i="0">
                <a:solidFill>
                  <a:srgbClr val="1F6E43"/>
                </a:solidFill>
                <a:latin typeface="Google Sans Flex SemiBold"/>
              </a:rPr>
              <a:t>breedernear_core: one tool layer</a:t>
            </a:r>
          </a:p>
          <a:p>
            <a:pPr algn="ctr">
              <a:spcAft>
                <a:spcPts val="0"/>
              </a:spcAft>
            </a:pPr>
            <a:r>
              <a:rPr sz="750" i="0">
                <a:solidFill>
                  <a:srgbClr val="5F5F64"/>
                </a:solidFill>
                <a:latin typeface="Google Sans Flex"/>
              </a:rPr>
              <a:t>listings · trust score · verification · match % · visits · care companion
analytics · accounts · safety rules in code · reused-photo hashing</a:t>
            </a:r>
          </a:p>
        </p:txBody>
      </p:sp>
      <p:cxnSp>
        <p:nvCxnSpPr>
          <p:cNvPr id="144" name="Connector 143"/>
          <p:cNvCxnSpPr/>
          <p:nvPr/>
        </p:nvCxnSpPr>
        <p:spPr>
          <a:xfrm>
            <a:off x="2651760" y="2679191"/>
            <a:ext cx="0" cy="859537"/>
          </a:xfrm>
          <a:prstGeom prst="line">
            <a:avLst/>
          </a:prstGeom>
          <a:ln w="15875">
            <a:solidFill>
              <a:srgbClr val="5F5F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" name="Connector 144"/>
          <p:cNvCxnSpPr/>
          <p:nvPr/>
        </p:nvCxnSpPr>
        <p:spPr>
          <a:xfrm>
            <a:off x="4754880" y="3429000"/>
            <a:ext cx="0" cy="109728"/>
          </a:xfrm>
          <a:prstGeom prst="line">
            <a:avLst/>
          </a:prstGeom>
          <a:ln w="15875">
            <a:solidFill>
              <a:srgbClr val="5F5F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6" name="Connector 145"/>
          <p:cNvCxnSpPr/>
          <p:nvPr/>
        </p:nvCxnSpPr>
        <p:spPr>
          <a:xfrm>
            <a:off x="1554480" y="2286000"/>
            <a:ext cx="365760" cy="0"/>
          </a:xfrm>
          <a:prstGeom prst="line">
            <a:avLst/>
          </a:prstGeom>
          <a:ln w="15875">
            <a:solidFill>
              <a:srgbClr val="5F5F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7" name="Connector 146"/>
          <p:cNvCxnSpPr/>
          <p:nvPr/>
        </p:nvCxnSpPr>
        <p:spPr>
          <a:xfrm>
            <a:off x="1554480" y="3154680"/>
            <a:ext cx="365760" cy="0"/>
          </a:xfrm>
          <a:prstGeom prst="line">
            <a:avLst/>
          </a:prstGeom>
          <a:ln w="15875">
            <a:solidFill>
              <a:srgbClr val="5F5F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8" name="Rounded Rectangle 147"/>
          <p:cNvSpPr/>
          <p:nvPr/>
        </p:nvSpPr>
        <p:spPr>
          <a:xfrm>
            <a:off x="6492240" y="1143000"/>
            <a:ext cx="2331720" cy="603504"/>
          </a:xfrm>
          <a:prstGeom prst="roundRect">
            <a:avLst>
              <a:gd name="adj" fmla="val 10606"/>
            </a:avLst>
          </a:prstGeom>
          <a:solidFill>
            <a:srgbClr val="FBE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9" name="TextBox 148"/>
          <p:cNvSpPr txBox="1"/>
          <p:nvPr/>
        </p:nvSpPr>
        <p:spPr>
          <a:xfrm>
            <a:off x="6528816" y="1143000"/>
            <a:ext cx="2258568" cy="60350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900" i="0">
                <a:solidFill>
                  <a:srgbClr val="9A5700"/>
                </a:solidFill>
                <a:latin typeface="Google Sans Flex SemiBold"/>
              </a:rPr>
              <a:t>Gemini 3.8 Flash</a:t>
            </a:r>
          </a:p>
          <a:p>
            <a:pPr algn="ctr">
              <a:spcAft>
                <a:spcPts val="0"/>
              </a:spcAft>
            </a:pPr>
            <a:r>
              <a:rPr sz="750" i="0">
                <a:solidFill>
                  <a:srgbClr val="5F5F64"/>
                </a:solidFill>
                <a:latin typeface="Google Sans Flex"/>
              </a:rPr>
              <a:t>Vertex AI: agents, photos, certificates,
listings, care, scam scan</a:t>
            </a:r>
          </a:p>
        </p:txBody>
      </p:sp>
      <p:cxnSp>
        <p:nvCxnSpPr>
          <p:cNvPr id="150" name="Connector 149"/>
          <p:cNvCxnSpPr/>
          <p:nvPr/>
        </p:nvCxnSpPr>
        <p:spPr>
          <a:xfrm>
            <a:off x="6126479" y="1444752"/>
            <a:ext cx="365761" cy="0"/>
          </a:xfrm>
          <a:prstGeom prst="line">
            <a:avLst/>
          </a:prstGeom>
          <a:ln w="15875">
            <a:solidFill>
              <a:srgbClr val="5F5F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1" name="Rounded Rectangle 150"/>
          <p:cNvSpPr/>
          <p:nvPr/>
        </p:nvSpPr>
        <p:spPr>
          <a:xfrm>
            <a:off x="6492240" y="1847088"/>
            <a:ext cx="2331720" cy="603504"/>
          </a:xfrm>
          <a:prstGeom prst="roundRect">
            <a:avLst>
              <a:gd name="adj" fmla="val 10606"/>
            </a:avLst>
          </a:prstGeom>
          <a:solidFill>
            <a:srgbClr val="E5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2" name="TextBox 151"/>
          <p:cNvSpPr txBox="1"/>
          <p:nvPr/>
        </p:nvSpPr>
        <p:spPr>
          <a:xfrm>
            <a:off x="6528816" y="1847088"/>
            <a:ext cx="2258568" cy="60350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900" i="0">
                <a:solidFill>
                  <a:srgbClr val="1F6E43"/>
                </a:solidFill>
                <a:latin typeface="Google Sans Flex SemiBold"/>
              </a:rPr>
              <a:t>Firestore</a:t>
            </a:r>
          </a:p>
          <a:p>
            <a:pPr algn="ctr">
              <a:spcAft>
                <a:spcPts val="0"/>
              </a:spcAft>
            </a:pPr>
            <a:r>
              <a:rPr sz="750" i="0">
                <a:solidFill>
                  <a:srgbClr val="5F5F64"/>
                </a:solidFill>
                <a:latin typeface="Google Sans Flex"/>
              </a:rPr>
              <a:t>accounts, listings, visits, pets,
verification, analytics events</a:t>
            </a:r>
          </a:p>
        </p:txBody>
      </p:sp>
      <p:cxnSp>
        <p:nvCxnSpPr>
          <p:cNvPr id="153" name="Connector 152"/>
          <p:cNvCxnSpPr/>
          <p:nvPr/>
        </p:nvCxnSpPr>
        <p:spPr>
          <a:xfrm>
            <a:off x="6126479" y="2148840"/>
            <a:ext cx="365761" cy="0"/>
          </a:xfrm>
          <a:prstGeom prst="line">
            <a:avLst/>
          </a:prstGeom>
          <a:ln w="15875">
            <a:solidFill>
              <a:srgbClr val="5F5F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4" name="Rounded Rectangle 153"/>
          <p:cNvSpPr/>
          <p:nvPr/>
        </p:nvSpPr>
        <p:spPr>
          <a:xfrm>
            <a:off x="6492240" y="2551176"/>
            <a:ext cx="2331720" cy="603504"/>
          </a:xfrm>
          <a:prstGeom prst="roundRect">
            <a:avLst>
              <a:gd name="adj" fmla="val 10606"/>
            </a:avLst>
          </a:prstGeom>
          <a:solidFill>
            <a:srgbClr val="E4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5" name="TextBox 154"/>
          <p:cNvSpPr txBox="1"/>
          <p:nvPr/>
        </p:nvSpPr>
        <p:spPr>
          <a:xfrm>
            <a:off x="6528816" y="2551176"/>
            <a:ext cx="2258568" cy="60350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900" i="0">
                <a:solidFill>
                  <a:srgbClr val="1F5FA8"/>
                </a:solidFill>
                <a:latin typeface="Google Sans Flex SemiBold"/>
              </a:rPr>
              <a:t>Cloud Storage</a:t>
            </a:r>
          </a:p>
          <a:p>
            <a:pPr algn="ctr">
              <a:spcAft>
                <a:spcPts val="0"/>
              </a:spcAft>
            </a:pPr>
            <a:r>
              <a:rPr sz="750" i="0">
                <a:solidFill>
                  <a:srgbClr val="5F5F64"/>
                </a:solidFill>
                <a:latin typeface="Google Sans Flex"/>
              </a:rPr>
              <a:t>private uploads, deleted once read</a:t>
            </a:r>
          </a:p>
        </p:txBody>
      </p:sp>
      <p:cxnSp>
        <p:nvCxnSpPr>
          <p:cNvPr id="156" name="Connector 155"/>
          <p:cNvCxnSpPr/>
          <p:nvPr/>
        </p:nvCxnSpPr>
        <p:spPr>
          <a:xfrm>
            <a:off x="6126479" y="2852928"/>
            <a:ext cx="365761" cy="0"/>
          </a:xfrm>
          <a:prstGeom prst="line">
            <a:avLst/>
          </a:prstGeom>
          <a:ln w="15875">
            <a:solidFill>
              <a:srgbClr val="5F5F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7" name="Rounded Rectangle 156"/>
          <p:cNvSpPr/>
          <p:nvPr/>
        </p:nvSpPr>
        <p:spPr>
          <a:xfrm>
            <a:off x="6492240" y="3255264"/>
            <a:ext cx="2331720" cy="603504"/>
          </a:xfrm>
          <a:prstGeom prst="roundRect">
            <a:avLst>
              <a:gd name="adj" fmla="val 10606"/>
            </a:avLst>
          </a:prstGeom>
          <a:solidFill>
            <a:srgbClr val="F3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8" name="TextBox 157"/>
          <p:cNvSpPr txBox="1"/>
          <p:nvPr/>
        </p:nvSpPr>
        <p:spPr>
          <a:xfrm>
            <a:off x="6528816" y="3255264"/>
            <a:ext cx="2258568" cy="60350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900" i="0">
                <a:solidFill>
                  <a:srgbClr val="1D1D1F"/>
                </a:solidFill>
                <a:latin typeface="Google Sans Flex SemiBold"/>
              </a:rPr>
              <a:t>Cloud Logging</a:t>
            </a:r>
          </a:p>
          <a:p>
            <a:pPr algn="ctr">
              <a:spcAft>
                <a:spcPts val="0"/>
              </a:spcAft>
            </a:pPr>
            <a:r>
              <a:rPr sz="750" i="0">
                <a:solidFill>
                  <a:srgbClr val="5F5F64"/>
                </a:solidFill>
                <a:latin typeface="Google Sans Flex"/>
              </a:rPr>
              <a:t>one JSON line per tool call</a:t>
            </a:r>
          </a:p>
        </p:txBody>
      </p:sp>
      <p:cxnSp>
        <p:nvCxnSpPr>
          <p:cNvPr id="159" name="Connector 158"/>
          <p:cNvCxnSpPr/>
          <p:nvPr/>
        </p:nvCxnSpPr>
        <p:spPr>
          <a:xfrm>
            <a:off x="6126479" y="3557016"/>
            <a:ext cx="365761" cy="0"/>
          </a:xfrm>
          <a:prstGeom prst="line">
            <a:avLst/>
          </a:prstGeom>
          <a:ln w="15875">
            <a:solidFill>
              <a:srgbClr val="5F5F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Rounded Rectangle 159"/>
          <p:cNvSpPr/>
          <p:nvPr/>
        </p:nvSpPr>
        <p:spPr>
          <a:xfrm>
            <a:off x="6492240" y="3959352"/>
            <a:ext cx="2331720" cy="603504"/>
          </a:xfrm>
          <a:prstGeom prst="roundRect">
            <a:avLst>
              <a:gd name="adj" fmla="val 10606"/>
            </a:avLst>
          </a:prstGeom>
          <a:solidFill>
            <a:srgbClr val="F3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1" name="TextBox 160"/>
          <p:cNvSpPr txBox="1"/>
          <p:nvPr/>
        </p:nvSpPr>
        <p:spPr>
          <a:xfrm>
            <a:off x="6528816" y="3959352"/>
            <a:ext cx="2258568" cy="60350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900" i="0">
                <a:solidFill>
                  <a:srgbClr val="1D1D1F"/>
                </a:solidFill>
                <a:latin typeface="Google Sans Flex SemiBold"/>
              </a:rPr>
              <a:t>Cloud Build + Artifact Registry</a:t>
            </a:r>
          </a:p>
          <a:p>
            <a:pPr algn="ctr">
              <a:spcAft>
                <a:spcPts val="0"/>
              </a:spcAft>
            </a:pPr>
            <a:r>
              <a:rPr sz="750" i="0">
                <a:solidFill>
                  <a:srgbClr val="5F5F64"/>
                </a:solidFill>
                <a:latin typeface="Google Sans Flex"/>
              </a:rPr>
              <a:t>deploy from source; GitHub Actions CI</a:t>
            </a:r>
          </a:p>
        </p:txBody>
      </p:sp>
      <p:cxnSp>
        <p:nvCxnSpPr>
          <p:cNvPr id="162" name="Connector 161"/>
          <p:cNvCxnSpPr/>
          <p:nvPr/>
        </p:nvCxnSpPr>
        <p:spPr>
          <a:xfrm>
            <a:off x="6126479" y="4261104"/>
            <a:ext cx="365761" cy="0"/>
          </a:xfrm>
          <a:prstGeom prst="line">
            <a:avLst/>
          </a:prstGeom>
          <a:ln w="15875">
            <a:solidFill>
              <a:srgbClr val="5F5F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21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21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21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21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Technologies to be used in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graphicFrame>
        <p:nvGraphicFramePr>
          <p:cNvPr id="120" name="Table 119"/>
          <p:cNvGraphicFramePr>
            <a:graphicFrameLocks noGrp="1"/>
          </p:cNvGraphicFramePr>
          <p:nvPr/>
        </p:nvGraphicFramePr>
        <p:xfrm>
          <a:off x="320040" y="1115568"/>
          <a:ext cx="571500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/>
                <a:gridCol w="3931920"/>
              </a:tblGrid>
              <a:tr h="320040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FFFFFF"/>
                          </a:solidFill>
                          <a:latin typeface="Google Sans Flex SemiBold"/>
                        </a:rPr>
                        <a:t>Google technology</a:t>
                      </a:r>
                    </a:p>
                  </a:txBody>
                  <a:tcPr marL="54864" marR="54864" marT="22860" marB="22860" anchor="ctr">
                    <a:solidFill>
                      <a:srgbClr val="1D1D1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FFFFFF"/>
                          </a:solidFill>
                          <a:latin typeface="Google Sans Flex SemiBold"/>
                        </a:rPr>
                        <a:t>How BreederNear AI uses it</a:t>
                      </a:r>
                    </a:p>
                  </a:txBody>
                  <a:tcPr marL="54864" marR="54864" marT="22860" marB="22860" anchor="ctr">
                    <a:solidFill>
                      <a:srgbClr val="1D1D1F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D1D1F"/>
                          </a:solidFill>
                          <a:latin typeface="Google Sans Flex"/>
                        </a:rPr>
                        <a:t>Gemini 3.8 Flash (Vertex AI)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D1D1F"/>
                          </a:solidFill>
                          <a:latin typeface="Google Sans Flex"/>
                        </a:rPr>
                        <a:t>Seven ADK agents; listings from photos, Tamil/English text and voice notes; photo, facility and certificate reading; care plans, daily-log feedback, symptom urgency; message drafts and scam scan. JSON schemas.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D1D1F"/>
                          </a:solidFill>
                          <a:latin typeface="Google Sans Flex"/>
                        </a:rPr>
                        <a:t>Google ADK (Python)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D1D1F"/>
                          </a:solidFill>
                          <a:latin typeface="Google Sans Flex"/>
                        </a:rPr>
                        <a:t>Concierge + listing, trust, match, care, verification and companion agents; tools; callbacks on every agent; streamed replies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D1D1F"/>
                          </a:solidFill>
                          <a:latin typeface="Google Sans Flex"/>
                        </a:rPr>
                        <a:t>Cloud Run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D1D1F"/>
                          </a:solidFill>
                          <a:latin typeface="Google Sans Flex"/>
                        </a:rPr>
                        <a:t>API and agents; login gatekeeper; rate limits; Gemini retries with backoff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D1D1F"/>
                          </a:solidFill>
                          <a:latin typeface="Google Sans Flex"/>
                        </a:rPr>
                        <a:t>Firebase Hosting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D1D1F"/>
                          </a:solidFill>
                          <a:latin typeface="Google Sans Flex"/>
                        </a:rPr>
                        <a:t>The web app on Google’s CDN; calls Cloud Run directly (CORS) so AI replies stream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D1D1F"/>
                          </a:solidFill>
                          <a:latin typeface="Google Sans Flex"/>
                        </a:rPr>
                        <a:t>Firebase Authentication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D1D1F"/>
                          </a:solidFill>
                          <a:latin typeface="Google Sans Flex"/>
                        </a:rPr>
                        <a:t>Continue with Google; the server verifies the Firebase ID token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D1D1F"/>
                          </a:solidFill>
                          <a:latin typeface="Google Sans Flex"/>
                        </a:rPr>
                        <a:t>Firestore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D1D1F"/>
                          </a:solidFill>
                          <a:latin typeface="Google Sans Flex"/>
                        </a:rPr>
                        <a:t>Accounts, listings, enquiries, visits, sales, pets and logs, verification, analytics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D1D1F"/>
                          </a:solidFill>
                          <a:latin typeface="Google Sans Flex"/>
                        </a:rPr>
                        <a:t>Cloud Storage, Cloud Build, Artifact Registry, Cloud Logging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D1D1F"/>
                          </a:solidFill>
                          <a:latin typeface="Google Sans Flex"/>
                        </a:rPr>
                        <a:t>Private uploads; deploy from source; tool-call logs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D1D1F"/>
                          </a:solidFill>
                          <a:latin typeface="Google Sans Flex"/>
                        </a:rPr>
                        <a:t>gemini-3.1-flash-image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D1D1F"/>
                          </a:solidFill>
                          <a:latin typeface="Google Sans Flex"/>
                        </a:rPr>
                        <a:t>Illustrative photos for the fictional sample listings (labelled in the app)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</a:tr>
            </a:tbl>
          </a:graphicData>
        </a:graphic>
      </p:graphicFrame>
      <p:sp>
        <p:nvSpPr>
          <p:cNvPr id="121" name="Rounded Rectangle 120"/>
          <p:cNvSpPr/>
          <p:nvPr/>
        </p:nvSpPr>
        <p:spPr>
          <a:xfrm>
            <a:off x="6217920" y="1115568"/>
            <a:ext cx="2606040" cy="2880360"/>
          </a:xfrm>
          <a:prstGeom prst="roundRect">
            <a:avLst>
              <a:gd name="adj" fmla="val 2807"/>
            </a:avLst>
          </a:prstGeom>
          <a:solidFill>
            <a:srgbClr val="F3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2" name="TextBox 121"/>
          <p:cNvSpPr txBox="1"/>
          <p:nvPr/>
        </p:nvSpPr>
        <p:spPr>
          <a:xfrm>
            <a:off x="6309359" y="1188720"/>
            <a:ext cx="2423160" cy="27706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i="0">
                <a:solidFill>
                  <a:srgbClr val="1D1D1F"/>
                </a:solidFill>
                <a:latin typeface="Google Sans Flex SemiBold"/>
              </a:rPr>
              <a:t>Also used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919" i="0">
                <a:solidFill>
                  <a:srgbClr val="1D1D1F"/>
                </a:solidFill>
                <a:latin typeface="Google Sans Flex"/>
              </a:rPr>
              <a:t>Python 3.12, FastAPI, Pydantic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919" i="0">
                <a:solidFill>
                  <a:srgbClr val="1D1D1F"/>
                </a:solidFill>
                <a:latin typeface="Google Sans Flex"/>
              </a:rPr>
              <a:t>Pillow: our own perceptual hash (dHash) for reused photos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919" i="0">
                <a:solidFill>
                  <a:srgbClr val="1D1D1F"/>
                </a:solidFill>
                <a:latin typeface="Google Sans Flex"/>
              </a:rPr>
              <a:t>Plain HTML, CSS, JavaScript and SVG charts: no build step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919" i="0">
                <a:solidFill>
                  <a:srgbClr val="1D1D1F"/>
                </a:solidFill>
                <a:latin typeface="Google Sans Flex"/>
              </a:rPr>
              <a:t>pytest, Playwright + axe-core, GitHub Actions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919" i="0">
                <a:solidFill>
                  <a:srgbClr val="1D1D1F"/>
                </a:solidFill>
                <a:latin typeface="Google Sans Flex"/>
              </a:rPr>
              <a:t>Firebase CLI (deploy only)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22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22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22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p22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Estimated implementation cost (optional)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23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23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23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23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Snapshots of the prototype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36" name="Picture 135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9975" y="1115568"/>
            <a:ext cx="1501330" cy="3246120"/>
          </a:xfrm>
          <a:prstGeom prst="rect">
            <a:avLst/>
          </a:prstGeom>
          <a:ln w="9525">
            <a:solidFill>
              <a:srgbClr val="D6D6D2"/>
            </a:solidFill>
          </a:ln>
        </p:spPr>
      </p:pic>
      <p:sp>
        <p:nvSpPr>
          <p:cNvPr id="137" name="TextBox 136"/>
          <p:cNvSpPr txBox="1"/>
          <p:nvPr/>
        </p:nvSpPr>
        <p:spPr>
          <a:xfrm>
            <a:off x="172815" y="4398264"/>
            <a:ext cx="177565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i="0">
                <a:solidFill>
                  <a:srgbClr val="5F5F64"/>
                </a:solidFill>
                <a:latin typeface="Google Sans Flex"/>
              </a:rPr>
              <a:t>Seller analytics</a:t>
            </a:r>
          </a:p>
        </p:txBody>
      </p:sp>
      <p:pic>
        <p:nvPicPr>
          <p:cNvPr id="138" name="Picture 137" descr="imag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065991" y="1115568"/>
            <a:ext cx="1501330" cy="3246120"/>
          </a:xfrm>
          <a:prstGeom prst="rect">
            <a:avLst/>
          </a:prstGeom>
          <a:ln w="9525">
            <a:solidFill>
              <a:srgbClr val="D6D6D2"/>
            </a:solidFill>
          </a:ln>
        </p:spPr>
      </p:pic>
      <p:sp>
        <p:nvSpPr>
          <p:cNvPr id="139" name="TextBox 138"/>
          <p:cNvSpPr txBox="1"/>
          <p:nvPr/>
        </p:nvSpPr>
        <p:spPr>
          <a:xfrm>
            <a:off x="1928831" y="4398264"/>
            <a:ext cx="177565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i="0">
                <a:solidFill>
                  <a:srgbClr val="5F5F64"/>
                </a:solidFill>
                <a:latin typeface="Google Sans Flex"/>
              </a:rPr>
              <a:t>Verified breeder</a:t>
            </a:r>
          </a:p>
        </p:txBody>
      </p:sp>
      <p:pic>
        <p:nvPicPr>
          <p:cNvPr id="140" name="Picture 139" descr="image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22007" y="1115568"/>
            <a:ext cx="1501330" cy="3246120"/>
          </a:xfrm>
          <a:prstGeom prst="rect">
            <a:avLst/>
          </a:prstGeom>
          <a:ln w="9525">
            <a:solidFill>
              <a:srgbClr val="D6D6D2"/>
            </a:solidFill>
          </a:ln>
        </p:spPr>
      </p:pic>
      <p:sp>
        <p:nvSpPr>
          <p:cNvPr id="141" name="TextBox 140"/>
          <p:cNvSpPr txBox="1"/>
          <p:nvPr/>
        </p:nvSpPr>
        <p:spPr>
          <a:xfrm>
            <a:off x="3684847" y="4398264"/>
            <a:ext cx="177565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i="0">
                <a:solidFill>
                  <a:srgbClr val="5F5F64"/>
                </a:solidFill>
                <a:latin typeface="Google Sans Flex"/>
              </a:rPr>
              <a:t>Protected species: blocked</a:t>
            </a:r>
          </a:p>
        </p:txBody>
      </p:sp>
      <p:pic>
        <p:nvPicPr>
          <p:cNvPr id="142" name="Picture 141" descr="image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578024" y="1115568"/>
            <a:ext cx="1501330" cy="3246120"/>
          </a:xfrm>
          <a:prstGeom prst="rect">
            <a:avLst/>
          </a:prstGeom>
          <a:ln w="9525">
            <a:solidFill>
              <a:srgbClr val="D6D6D2"/>
            </a:solidFill>
          </a:ln>
        </p:spPr>
      </p:pic>
      <p:sp>
        <p:nvSpPr>
          <p:cNvPr id="143" name="TextBox 142"/>
          <p:cNvSpPr txBox="1"/>
          <p:nvPr/>
        </p:nvSpPr>
        <p:spPr>
          <a:xfrm>
            <a:off x="5440864" y="4398264"/>
            <a:ext cx="177565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i="0">
                <a:solidFill>
                  <a:srgbClr val="5F5F64"/>
                </a:solidFill>
                <a:latin typeface="Google Sans Flex"/>
              </a:rPr>
              <a:t>“Is this post safe?”</a:t>
            </a:r>
          </a:p>
        </p:txBody>
      </p:sp>
      <p:pic>
        <p:nvPicPr>
          <p:cNvPr id="144" name="Picture 143" descr="image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334040" y="1115568"/>
            <a:ext cx="1501330" cy="3246120"/>
          </a:xfrm>
          <a:prstGeom prst="rect">
            <a:avLst/>
          </a:prstGeom>
          <a:ln w="9525">
            <a:solidFill>
              <a:srgbClr val="D6D6D2"/>
            </a:solidFill>
          </a:ln>
        </p:spPr>
      </p:pic>
      <p:sp>
        <p:nvSpPr>
          <p:cNvPr id="145" name="TextBox 144"/>
          <p:cNvSpPr txBox="1"/>
          <p:nvPr/>
        </p:nvSpPr>
        <p:spPr>
          <a:xfrm>
            <a:off x="7196880" y="4398264"/>
            <a:ext cx="177565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i="0">
                <a:solidFill>
                  <a:srgbClr val="5F5F64"/>
                </a:solidFill>
                <a:latin typeface="Google Sans Flex"/>
              </a:rPr>
              <a:t>Symptom urgency, no doses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24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24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24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24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Prototype Performance report/Benchmarking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graphicFrame>
        <p:nvGraphicFramePr>
          <p:cNvPr id="144" name="Table 143"/>
          <p:cNvGraphicFramePr>
            <a:graphicFrameLocks noGrp="1"/>
          </p:cNvGraphicFramePr>
          <p:nvPr/>
        </p:nvGraphicFramePr>
        <p:xfrm>
          <a:off x="320040" y="1115568"/>
          <a:ext cx="52578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60520"/>
                <a:gridCol w="1097280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819">
                          <a:solidFill>
                            <a:srgbClr val="FFFFFF"/>
                          </a:solidFill>
                          <a:latin typeface="Google Sans Flex SemiBold"/>
                        </a:rPr>
                        <a:t>Quality (real Gemini, 10–12 Oct 2026)</a:t>
                      </a:r>
                    </a:p>
                  </a:txBody>
                  <a:tcPr marL="54864" marR="54864" marT="22860" marB="22860" anchor="ctr">
                    <a:solidFill>
                      <a:srgbClr val="1D1D1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19">
                          <a:solidFill>
                            <a:srgbClr val="FFFFFF"/>
                          </a:solidFill>
                          <a:latin typeface="Google Sans Flex SemiBold"/>
                        </a:rPr>
                        <a:t>Result</a:t>
                      </a:r>
                    </a:p>
                  </a:txBody>
                  <a:tcPr marL="54864" marR="54864" marT="22860" marB="22860" anchor="ctr">
                    <a:solidFill>
                      <a:srgbClr val="1D1D1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819">
                          <a:solidFill>
                            <a:srgbClr val="1D1D1F"/>
                          </a:solidFill>
                          <a:latin typeface="Google Sans Flex"/>
                        </a:rPr>
                        <a:t>Agent evals: 23 cases × 3 runs (listing, Tamil, blocking, scams, reused photos, prompt injection, no medicine advice, roles, verification, visits, care companion)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19">
                          <a:solidFill>
                            <a:srgbClr val="1F6E43"/>
                          </a:solidFill>
                          <a:latin typeface="Google Sans Flex SemiBold"/>
                        </a:rPr>
                        <a:t>69/69 passed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819">
                          <a:solidFill>
                            <a:srgbClr val="1D1D1F"/>
                          </a:solidFill>
                          <a:latin typeface="Google Sans Flex"/>
                        </a:rPr>
                        <a:t>Protected species blocked from the photo alone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19">
                          <a:solidFill>
                            <a:srgbClr val="1F6E43"/>
                          </a:solidFill>
                          <a:latin typeface="Google Sans Flex SemiBold"/>
                        </a:rPr>
                        <a:t>8/8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819">
                          <a:solidFill>
                            <a:srgbClr val="1D1D1F"/>
                          </a:solidFill>
                          <a:latin typeface="Google Sans Flex"/>
                        </a:rPr>
                        <a:t>Ordinary pets wrongly flagged as protected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19">
                          <a:solidFill>
                            <a:srgbClr val="1F6E43"/>
                          </a:solidFill>
                          <a:latin typeface="Google Sans Flex SemiBold"/>
                        </a:rPr>
                        <a:t>0/37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819">
                          <a:solidFill>
                            <a:srgbClr val="1D1D1F"/>
                          </a:solidFill>
                          <a:latin typeface="Google Sans Flex"/>
                        </a:rPr>
                        <a:t>All photo checks: species, dye, blur, no animal, watermark, screenshot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19">
                          <a:solidFill>
                            <a:srgbClr val="1D1D1F"/>
                          </a:solidFill>
                          <a:latin typeface="Google Sans Flex SemiBold"/>
                        </a:rPr>
                        <a:t>202/202*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819">
                          <a:solidFill>
                            <a:srgbClr val="1D1D1F"/>
                          </a:solidFill>
                          <a:latin typeface="Google Sans Flex"/>
                        </a:rPr>
                        <a:t>Accessibility: axe-core, WCAG 2.2 AA, light + dark, 320–1280 px, all screens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19">
                          <a:solidFill>
                            <a:srgbClr val="1F6E43"/>
                          </a:solidFill>
                          <a:latin typeface="Google Sans Flex SemiBold"/>
                        </a:rPr>
                        <a:t>0 problems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819">
                          <a:solidFill>
                            <a:srgbClr val="1D1D1F"/>
                          </a:solidFill>
                          <a:latin typeface="Google Sans Flex"/>
                        </a:rPr>
                        <a:t>Unit tests in CI · live smoke test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19">
                          <a:solidFill>
                            <a:srgbClr val="1D1D1F"/>
                          </a:solidFill>
                          <a:latin typeface="Google Sans Flex SemiBold"/>
                        </a:rPr>
                        <a:t>339 · 17/17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45" name="Table 144"/>
          <p:cNvGraphicFramePr>
            <a:graphicFrameLocks noGrp="1"/>
          </p:cNvGraphicFramePr>
          <p:nvPr/>
        </p:nvGraphicFramePr>
        <p:xfrm>
          <a:off x="5760720" y="1115568"/>
          <a:ext cx="306324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0280"/>
                <a:gridCol w="822960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819">
                          <a:solidFill>
                            <a:srgbClr val="FFFFFF"/>
                          </a:solidFill>
                          <a:latin typeface="Google Sans Flex SemiBold"/>
                        </a:rPr>
                        <a:t>Speed (live)</a:t>
                      </a:r>
                    </a:p>
                  </a:txBody>
                  <a:tcPr marL="54864" marR="54864" marT="22860" marB="22860" anchor="ctr">
                    <a:solidFill>
                      <a:srgbClr val="1D1D1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19">
                          <a:solidFill>
                            <a:srgbClr val="FFFFFF"/>
                          </a:solidFill>
                          <a:latin typeface="Google Sans Flex SemiBold"/>
                        </a:rPr>
                        <a:t>Time</a:t>
                      </a:r>
                    </a:p>
                  </a:txBody>
                  <a:tcPr marL="54864" marR="54864" marT="22860" marB="22860" anchor="ctr">
                    <a:solidFill>
                      <a:srgbClr val="1D1D1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819">
                          <a:solidFill>
                            <a:srgbClr val="1D1D1F"/>
                          </a:solidFill>
                          <a:latin typeface="Google Sans Flex"/>
                        </a:rPr>
                        <a:t>List a pet: upload, AI fill, publish with trust check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19">
                          <a:solidFill>
                            <a:srgbClr val="1D1D1F"/>
                          </a:solidFill>
                          <a:latin typeface="Google Sans Flex"/>
                        </a:rPr>
                        <a:t>17–27 s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819">
                          <a:solidFill>
                            <a:srgbClr val="1D1D1F"/>
                          </a:solidFill>
                          <a:latin typeface="Google Sans Flex"/>
                        </a:rPr>
                        <a:t>Check a pasted post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19">
                          <a:solidFill>
                            <a:srgbClr val="1D1D1F"/>
                          </a:solidFill>
                          <a:latin typeface="Google Sans Flex"/>
                        </a:rPr>
                        <a:t>5–7 s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819">
                          <a:solidFill>
                            <a:srgbClr val="1D1D1F"/>
                          </a:solidFill>
                          <a:latin typeface="Google Sans Flex"/>
                        </a:rPr>
                        <a:t>Web app load (Firebase CDN)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19">
                          <a:solidFill>
                            <a:srgbClr val="1D1D1F"/>
                          </a:solidFill>
                          <a:latin typeface="Google Sans Flex"/>
                        </a:rPr>
                        <a:t>≈ 0.7 s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819">
                          <a:solidFill>
                            <a:srgbClr val="1D1D1F"/>
                          </a:solidFill>
                          <a:latin typeface="Google Sans Flex"/>
                        </a:rPr>
                        <a:t>Gemini: read a certificate · scan a message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19">
                          <a:solidFill>
                            <a:srgbClr val="1D1D1F"/>
                          </a:solidFill>
                          <a:latin typeface="Google Sans Flex"/>
                        </a:rPr>
                        <a:t>8–9 s · 2–3 s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819">
                          <a:solidFill>
                            <a:srgbClr val="1D1D1F"/>
                          </a:solidFill>
                          <a:latin typeface="Google Sans Flex"/>
                        </a:rPr>
                        <a:t>Gemini: symptom urgency · daily-log feedback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19">
                          <a:solidFill>
                            <a:srgbClr val="1D1D1F"/>
                          </a:solidFill>
                          <a:latin typeface="Google Sans Flex"/>
                        </a:rPr>
                        <a:t>7–8 s · 4–10 s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6" name="TextBox 145"/>
          <p:cNvSpPr txBox="1"/>
          <p:nvPr/>
        </p:nvSpPr>
        <p:spPr>
          <a:xfrm>
            <a:off x="5760720" y="3447287"/>
            <a:ext cx="3063240" cy="10972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950" i="0">
                <a:solidFill>
                  <a:srgbClr val="1D1D1F"/>
                </a:solidFill>
                <a:latin typeface="Google Sans Flex SemiBold"/>
              </a:rPr>
              <a:t>How we test</a:t>
            </a:r>
          </a:p>
          <a:p>
            <a:pPr algn="l">
              <a:spcAft>
                <a:spcPts val="300"/>
              </a:spcAft>
            </a:pPr>
            <a:r>
              <a:rPr sz="850" i="0">
                <a:solidFill>
                  <a:srgbClr val="1D1D1F"/>
                </a:solidFill>
                <a:latin typeface="Google Sans Flex"/>
              </a:rPr>
              <a:t>Gemini isn’t deterministic, so each eval runs three times and we report the count. Decisions (trust, verification, match %, urgency floor) are made by tested code.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320040" y="4681728"/>
            <a:ext cx="85039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650" i="0">
                <a:solidFill>
                  <a:srgbClr val="5F5F64"/>
                </a:solidFill>
                <a:latin typeface="Google Sans Flex"/>
              </a:rPr>
              <a:t>*Test photos are AI-generated and the screening prompt was tuned on them (first run 196/202), so treat this as an upper bound · Reproduce: scripts/run_evals.sh 3 · scripts/vision_accuracy.py · pytest -m ui tests/ui · evals/RESULTS.md, evals/VISION_RESULTS.md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25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2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Additional Details/Future Development (if any)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52" name="Rounded Rectangle 151"/>
          <p:cNvSpPr/>
          <p:nvPr/>
        </p:nvSpPr>
        <p:spPr>
          <a:xfrm>
            <a:off x="320040" y="1115568"/>
            <a:ext cx="4114800" cy="3291840"/>
          </a:xfrm>
          <a:prstGeom prst="roundRect">
            <a:avLst>
              <a:gd name="adj" fmla="val 2222"/>
            </a:avLst>
          </a:prstGeom>
          <a:solidFill>
            <a:srgbClr val="E4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" name="TextBox 152"/>
          <p:cNvSpPr txBox="1"/>
          <p:nvPr/>
        </p:nvSpPr>
        <p:spPr>
          <a:xfrm>
            <a:off x="411479" y="1188720"/>
            <a:ext cx="3931920" cy="318211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i="0">
                <a:solidFill>
                  <a:srgbClr val="1F5FA8"/>
                </a:solidFill>
                <a:latin typeface="Google Sans Flex SemiBold"/>
              </a:rPr>
              <a:t>Roadmap (not in the prototype)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40" i="0">
                <a:solidFill>
                  <a:srgbClr val="1D1D1F"/>
                </a:solidFill>
                <a:latin typeface="Google Sans Flex"/>
              </a:rPr>
              <a:t>Pilot with real breeders in Coimbatore and Tiruppur, from the founder’s network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40" i="0">
                <a:solidFill>
                  <a:srgbClr val="1D1D1F"/>
                </a:solidFill>
                <a:latin typeface="Google Sans Flex"/>
              </a:rPr>
              <a:t>Real SMS and email delivery for one-time codes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40" i="0">
                <a:solidFill>
                  <a:srgbClr val="1D1D1F"/>
                </a:solidFill>
                <a:latin typeface="Google Sans Flex"/>
              </a:rPr>
              <a:t>List by sending a WhatsApp message (WhatsApp Business Platform)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40" i="0">
                <a:solidFill>
                  <a:srgbClr val="1D1D1F"/>
                </a:solidFill>
                <a:latin typeface="Google Sans Flex"/>
              </a:rPr>
              <a:t>Live State Animal Welfare Board and PARIVESH registry checks; the platform registrations India’s pet-trade rules require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40" i="0">
                <a:solidFill>
                  <a:srgbClr val="1D1D1F"/>
                </a:solidFill>
                <a:latin typeface="Google Sans Flex"/>
              </a:rPr>
              <a:t>Chat history in Agent Engine sessions, so Cloud Run can scale past one instance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40" i="0">
                <a:solidFill>
                  <a:srgbClr val="1D1D1F"/>
                </a:solidFill>
                <a:latin typeface="Google Sans Flex"/>
              </a:rPr>
              <a:t>Breeder ratings from buyers’ care-companion outcomes; vet and pet-pharmacy partners; more languages</a:t>
            </a:r>
          </a:p>
        </p:txBody>
      </p:sp>
      <p:sp>
        <p:nvSpPr>
          <p:cNvPr id="154" name="Rounded Rectangle 153"/>
          <p:cNvSpPr/>
          <p:nvPr/>
        </p:nvSpPr>
        <p:spPr>
          <a:xfrm>
            <a:off x="4709159" y="1115568"/>
            <a:ext cx="4114800" cy="3291840"/>
          </a:xfrm>
          <a:prstGeom prst="roundRect">
            <a:avLst>
              <a:gd name="adj" fmla="val 2222"/>
            </a:avLst>
          </a:prstGeom>
          <a:solidFill>
            <a:srgbClr val="E5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5" name="TextBox 154"/>
          <p:cNvSpPr txBox="1"/>
          <p:nvPr/>
        </p:nvSpPr>
        <p:spPr>
          <a:xfrm>
            <a:off x="4800599" y="1188720"/>
            <a:ext cx="3931920" cy="318211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i="0">
                <a:solidFill>
                  <a:srgbClr val="1F6E43"/>
                </a:solidFill>
                <a:latin typeface="Google Sans Flex SemiBold"/>
              </a:rPr>
              <a:t>Responsible by design (already built)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40" i="0">
                <a:solidFill>
                  <a:srgbClr val="1D1D1F"/>
                </a:solidFill>
                <a:latin typeface="Google Sans Flex"/>
              </a:rPr>
              <a:t>Protected species blocked in code, whatever the model says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40" i="0">
                <a:solidFill>
                  <a:srgbClr val="1D1D1F"/>
                </a:solidFill>
                <a:latin typeface="Google Sans Flex"/>
              </a:rPr>
              <a:t>No medicine names or doses: checked on every AI reply, even while streaming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40" i="0">
                <a:solidFill>
                  <a:srgbClr val="1D1D1F"/>
                </a:solidFill>
                <a:latin typeface="Google Sans Flex"/>
              </a:rPr>
              <a:t>Verification without ID documents or selfies; photos deleted once read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40" i="0">
                <a:solidFill>
                  <a:srgbClr val="1D1D1F"/>
                </a:solidFill>
                <a:latin typeface="Google Sans Flex"/>
              </a:rPr>
              <a:t>Codes shown on screen only open new or demo accounts, never someone else’s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40" i="0">
                <a:solidFill>
                  <a:srgbClr val="1D1D1F"/>
                </a:solidFill>
                <a:latin typeface="Google Sans Flex"/>
              </a:rPr>
              <a:t>Symptom checker: red flags are always an emergency; never a diagnosis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40" i="0">
                <a:solidFill>
                  <a:srgbClr val="1D1D1F"/>
                </a:solidFill>
                <a:latin typeface="Google Sans Flex"/>
              </a:rPr>
              <a:t>Synthetic sample data, clearly labelled; simulated registry numbers start with SIM-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2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2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2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26"/>
          <p:cNvSpPr txBox="1"/>
          <p:nvPr/>
        </p:nvSpPr>
        <p:spPr>
          <a:xfrm>
            <a:off x="265350" y="663825"/>
            <a:ext cx="8943000" cy="1333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Provide links to your: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Google Sans Flex Medium"/>
              <a:buChar char="●"/>
            </a:pPr>
            <a:r>
              <a:rPr lang="en-GB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GitHub Public Repository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  <a:r>
              <a:rPr lang="en-GB" sz="1100">
                <a:solidFill>
                  <a:srgbClr val="1F6E43"/>
                </a:solidFill>
                <a:latin typeface="Google Sans Flex"/>
                <a:ea typeface="Google Sans Flex Medium"/>
                <a:cs typeface="Google Sans Flex Medium"/>
                <a:sym typeface="Google Sans Flex Medium"/>
                <a:hlinkClick r:id="rId5"/>
              </a:rPr>
              <a:t>: https://github.com/sudarsan-22/breedernear-ai</a:t>
            </a: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Google Sans Flex Medium"/>
              <a:buChar char="●"/>
            </a:pPr>
            <a:r>
              <a:rPr lang="en-GB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Demo Video Link (3 Minutes)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  <a:r>
              <a:rPr lang="en-GB" sz="1100">
                <a:solidFill>
                  <a:srgbClr val="1F6E43"/>
                </a:solidFill>
                <a:latin typeface="Google Sans Flex"/>
                <a:ea typeface="Google Sans Flex Medium"/>
                <a:cs typeface="Google Sans Flex Medium"/>
                <a:sym typeface="Google Sans Flex Medium"/>
                <a:hlinkClick r:id="rId6"/>
              </a:rPr>
              <a:t>: https://drive.google.com/file/d/1R4uJceUVbF6Lt0R7gGpk-nVUlvT33xrd/view?usp=sharing</a:t>
            </a: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Google Sans Flex Medium"/>
              <a:buChar char="●"/>
            </a:pPr>
            <a:r>
              <a:rPr lang="en-GB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Final Product Link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  <a:r>
              <a:rPr lang="en-GB" sz="1100">
                <a:solidFill>
                  <a:srgbClr val="1F6E43"/>
                </a:solidFill>
                <a:latin typeface="Google Sans Flex"/>
                <a:ea typeface="Google Sans Flex Medium"/>
                <a:cs typeface="Google Sans Flex Medium"/>
                <a:sym typeface="Google Sans Flex Medium"/>
                <a:hlinkClick r:id="rId7"/>
              </a:rPr>
              <a:t>: https://breedernear-ai-2026.web.app  (API: https://breedernear-655711985039.asia-south1.run.app)</a:t>
            </a: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60" name="Rounded Rectangle 159"/>
          <p:cNvSpPr/>
          <p:nvPr/>
        </p:nvSpPr>
        <p:spPr>
          <a:xfrm>
            <a:off x="320040" y="2148840"/>
            <a:ext cx="8503920" cy="960120"/>
          </a:xfrm>
          <a:prstGeom prst="roundRect">
            <a:avLst>
              <a:gd name="adj" fmla="val 7619"/>
            </a:avLst>
          </a:prstGeom>
          <a:solidFill>
            <a:srgbClr val="E5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1" name="TextBox 160"/>
          <p:cNvSpPr txBox="1"/>
          <p:nvPr/>
        </p:nvSpPr>
        <p:spPr>
          <a:xfrm>
            <a:off x="411479" y="2221992"/>
            <a:ext cx="8321040" cy="85039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i="0">
                <a:solidFill>
                  <a:srgbClr val="1F6E43"/>
                </a:solidFill>
                <a:latin typeface="Google Sans Flex SemiBold"/>
              </a:rPr>
              <a:t>Try it in 2 minutes: demo accounts with preloaded data</a:t>
            </a:r>
          </a:p>
          <a:p>
            <a:pPr algn="l">
              <a:spcAft>
                <a:spcPts val="300"/>
              </a:spcAft>
            </a:pPr>
            <a:r>
              <a:rPr sz="1100" i="0">
                <a:solidFill>
                  <a:srgbClr val="1D1D1F"/>
                </a:solidFill>
                <a:latin typeface="Google Sans Flex SemiBold"/>
              </a:rPr>
              <a:t>Customer: </a:t>
            </a:r>
            <a:r>
              <a:rPr sz="1100" i="0">
                <a:solidFill>
                  <a:srgbClr val="1D1D1F"/>
                </a:solidFill>
                <a:latin typeface="Google Sans Flex"/>
              </a:rPr>
              <a:t>priya.customer@example.com</a:t>
            </a:r>
            <a:r>
              <a:rPr sz="1100" i="0">
                <a:solidFill>
                  <a:srgbClr val="1D1D1F"/>
                </a:solidFill>
                <a:latin typeface="Google Sans Flex SemiBold"/>
              </a:rPr>
              <a:t>    Seller: </a:t>
            </a:r>
            <a:r>
              <a:rPr sz="1100" i="0">
                <a:solidFill>
                  <a:srgbClr val="1D1D1F"/>
                </a:solidFill>
                <a:latin typeface="Google Sans Flex"/>
              </a:rPr>
              <a:t>karthik.seller@example.com</a:t>
            </a:r>
            <a:r>
              <a:rPr sz="1100" i="0">
                <a:solidFill>
                  <a:srgbClr val="1D1D1F"/>
                </a:solidFill>
                <a:latin typeface="Google Sans Flex SemiBold"/>
              </a:rPr>
              <a:t>    Password: </a:t>
            </a:r>
            <a:r>
              <a:rPr sz="1100" i="0">
                <a:solidFill>
                  <a:srgbClr val="1D1D1F"/>
                </a:solidFill>
                <a:latin typeface="Google Sans Flex"/>
              </a:rPr>
              <a:t>demo12345</a:t>
            </a:r>
          </a:p>
          <a:p>
            <a:pPr algn="l">
              <a:spcAft>
                <a:spcPts val="300"/>
              </a:spcAft>
            </a:pPr>
            <a:r>
              <a:rPr sz="1000" i="0">
                <a:solidFill>
                  <a:srgbClr val="5F5F64"/>
                </a:solidFill>
                <a:latin typeface="Google Sans Flex"/>
              </a:rPr>
              <a:t>Or tap “Demo customer · Priya” / “Demo seller · Karthik” on the login screen. The README has a step-by-step walkthrough.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4" name="Google Shape;164;p2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5" name="Google Shape;165;p2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2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23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Business case, scale and go-to-market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67" name="Rounded Rectangle 166"/>
          <p:cNvSpPr/>
          <p:nvPr/>
        </p:nvSpPr>
        <p:spPr>
          <a:xfrm>
            <a:off x="320040" y="1097280"/>
            <a:ext cx="8503920" cy="384048"/>
          </a:xfrm>
          <a:prstGeom prst="roundRect">
            <a:avLst>
              <a:gd name="adj" fmla="val 19047"/>
            </a:avLst>
          </a:prstGeom>
          <a:solidFill>
            <a:srgbClr val="E5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8" name="TextBox 167"/>
          <p:cNvSpPr txBox="1"/>
          <p:nvPr/>
        </p:nvSpPr>
        <p:spPr>
          <a:xfrm>
            <a:off x="429768" y="1097280"/>
            <a:ext cx="8284464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i="0">
                <a:solidFill>
                  <a:srgbClr val="1F6E43"/>
                </a:solidFill>
                <a:latin typeface="Google Sans Flex SemiBold"/>
              </a:rPr>
              <a:t>Market: </a:t>
            </a:r>
            <a:r>
              <a:rPr sz="1050" i="0">
                <a:solidFill>
                  <a:srgbClr val="1D1D1F"/>
                </a:solidFill>
                <a:latin typeface="Google Sans Flex"/>
              </a:rPr>
              <a:t>India’s pet care products market is USD 9.2 B in 2026, heading to USD 13.9 B by 2034⁷, with about 39 million pets¹. The animals themselves are still sold with no checks: that is our wedge.</a:t>
            </a:r>
          </a:p>
        </p:txBody>
      </p:sp>
      <p:sp>
        <p:nvSpPr>
          <p:cNvPr id="169" name="Rounded Rectangle 168"/>
          <p:cNvSpPr/>
          <p:nvPr/>
        </p:nvSpPr>
        <p:spPr>
          <a:xfrm>
            <a:off x="320040" y="1591056"/>
            <a:ext cx="2712720" cy="2212848"/>
          </a:xfrm>
          <a:prstGeom prst="roundRect">
            <a:avLst>
              <a:gd name="adj" fmla="val 3305"/>
            </a:avLst>
          </a:prstGeom>
          <a:solidFill>
            <a:srgbClr val="E5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0" name="TextBox 169"/>
          <p:cNvSpPr txBox="1"/>
          <p:nvPr/>
        </p:nvSpPr>
        <p:spPr>
          <a:xfrm>
            <a:off x="411479" y="1664208"/>
            <a:ext cx="2529840" cy="21031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i="0">
                <a:solidFill>
                  <a:srgbClr val="1F6E43"/>
                </a:solidFill>
                <a:latin typeface="Google Sans Flex SemiBold"/>
              </a:rPr>
              <a:t>Revenue (planned)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980" i="0">
                <a:solidFill>
                  <a:srgbClr val="1D1D1F"/>
                </a:solidFill>
                <a:latin typeface="Google Sans Flex"/>
              </a:rPr>
              <a:t>Verified-breeder subscription: badge, dashboard insights, more listings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980" i="0">
                <a:solidFill>
                  <a:srgbClr val="1D1D1F"/>
                </a:solidFill>
                <a:latin typeface="Google Sans Flex"/>
              </a:rPr>
              <a:t>Featured listings per district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980" i="0">
                <a:solidFill>
                  <a:srgbClr val="1D1D1F"/>
                </a:solidFill>
                <a:latin typeface="Google Sans Flex"/>
              </a:rPr>
              <a:t>Starter-kit and accessory commerce after every sale (cart already built)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980" i="0">
                <a:solidFill>
                  <a:srgbClr val="1D1D1F"/>
                </a:solidFill>
                <a:latin typeface="Google Sans Flex"/>
              </a:rPr>
              <a:t>B2B trust-screening API for classifieds and pet shops</a:t>
            </a:r>
          </a:p>
        </p:txBody>
      </p:sp>
      <p:sp>
        <p:nvSpPr>
          <p:cNvPr id="171" name="Rounded Rectangle 170"/>
          <p:cNvSpPr/>
          <p:nvPr/>
        </p:nvSpPr>
        <p:spPr>
          <a:xfrm>
            <a:off x="3215640" y="1591056"/>
            <a:ext cx="2712720" cy="2212848"/>
          </a:xfrm>
          <a:prstGeom prst="roundRect">
            <a:avLst>
              <a:gd name="adj" fmla="val 3305"/>
            </a:avLst>
          </a:prstGeom>
          <a:solidFill>
            <a:srgbClr val="E4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2" name="TextBox 171"/>
          <p:cNvSpPr txBox="1"/>
          <p:nvPr/>
        </p:nvSpPr>
        <p:spPr>
          <a:xfrm>
            <a:off x="3307080" y="1664208"/>
            <a:ext cx="2529840" cy="21031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i="0">
                <a:solidFill>
                  <a:srgbClr val="1F5FA8"/>
                </a:solidFill>
                <a:latin typeface="Google Sans Flex SemiBold"/>
              </a:rPr>
              <a:t>Built to scale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980" i="0">
                <a:solidFill>
                  <a:srgbClr val="1D1D1F"/>
                </a:solidFill>
                <a:latin typeface="Google Sans Flex"/>
              </a:rPr>
              <a:t>Trust costs ≈ ₹1.3 per listing (measured) against pets priced ₹400–₹25,000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980" i="0">
                <a:solidFill>
                  <a:srgbClr val="1D1D1F"/>
                </a:solidFill>
                <a:latin typeface="Google Sans Flex"/>
              </a:rPr>
              <a:t>Serverless Cloud Run + Firestore: near zero when idle, scales out per request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980" i="0">
                <a:solidFill>
                  <a:srgbClr val="1D1D1F"/>
                </a:solidFill>
                <a:latin typeface="Google Sans Flex"/>
              </a:rPr>
              <a:t>Districts, species, fair prices and protected lists are data, not code: a new district is a data file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980" i="0">
                <a:solidFill>
                  <a:srgbClr val="1D1D1F"/>
                </a:solidFill>
                <a:latin typeface="Google Sans Flex"/>
              </a:rPr>
              <a:t>Gemini already reads Tamil, English and mixed messages</a:t>
            </a:r>
          </a:p>
        </p:txBody>
      </p:sp>
      <p:sp>
        <p:nvSpPr>
          <p:cNvPr id="173" name="Rounded Rectangle 172"/>
          <p:cNvSpPr/>
          <p:nvPr/>
        </p:nvSpPr>
        <p:spPr>
          <a:xfrm>
            <a:off x="6111240" y="1591056"/>
            <a:ext cx="2712720" cy="2212848"/>
          </a:xfrm>
          <a:prstGeom prst="roundRect">
            <a:avLst>
              <a:gd name="adj" fmla="val 3305"/>
            </a:avLst>
          </a:prstGeom>
          <a:solidFill>
            <a:srgbClr val="FBE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" name="TextBox 173"/>
          <p:cNvSpPr txBox="1"/>
          <p:nvPr/>
        </p:nvSpPr>
        <p:spPr>
          <a:xfrm>
            <a:off x="6202680" y="1664208"/>
            <a:ext cx="2529840" cy="21031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i="0">
                <a:solidFill>
                  <a:srgbClr val="9A5700"/>
                </a:solidFill>
                <a:latin typeface="Google Sans Flex SemiBold"/>
              </a:rPr>
              <a:t>Go-to-market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980" i="0">
                <a:solidFill>
                  <a:srgbClr val="1D1D1F"/>
                </a:solidFill>
                <a:latin typeface="Google Sans Flex"/>
              </a:rPr>
              <a:t>1 · Pilot in Coimbatore and Tiruppur with the founder’s breeder network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980" i="0">
                <a:solidFill>
                  <a:srgbClr val="1D1D1F"/>
                </a:solidFill>
                <a:latin typeface="Google Sans Flex"/>
              </a:rPr>
              <a:t>2 · Tamil Nadu, district by district; list by sending a WhatsApp message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980" i="0">
                <a:solidFill>
                  <a:srgbClr val="1D1D1F"/>
                </a:solidFill>
                <a:latin typeface="Google Sans Flex"/>
              </a:rPr>
              <a:t>3 · Other states and languages; the trust API for other marketplaces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980" i="0">
                <a:solidFill>
                  <a:srgbClr val="1D1D1F"/>
                </a:solidFill>
                <a:latin typeface="Google Sans Flex"/>
              </a:rPr>
              <a:t>Buyers arrive through “Is this post safe?” links shared in the same groups</a:t>
            </a:r>
          </a:p>
        </p:txBody>
      </p:sp>
      <p:sp>
        <p:nvSpPr>
          <p:cNvPr id="175" name="Rounded Rectangle 174"/>
          <p:cNvSpPr/>
          <p:nvPr/>
        </p:nvSpPr>
        <p:spPr>
          <a:xfrm>
            <a:off x="320040" y="3877056"/>
            <a:ext cx="8503920" cy="749808"/>
          </a:xfrm>
          <a:prstGeom prst="roundRect">
            <a:avLst>
              <a:gd name="adj" fmla="val 9756"/>
            </a:avLst>
          </a:prstGeom>
          <a:solidFill>
            <a:srgbClr val="F3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6" name="TextBox 175"/>
          <p:cNvSpPr txBox="1"/>
          <p:nvPr/>
        </p:nvSpPr>
        <p:spPr>
          <a:xfrm>
            <a:off x="429768" y="3895344"/>
            <a:ext cx="8284464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i="0">
                <a:solidFill>
                  <a:srgbClr val="1F6E43"/>
                </a:solidFill>
                <a:latin typeface="Google Sans Flex SemiBold"/>
              </a:rPr>
              <a:t>Growth loop: </a:t>
            </a:r>
            <a:r>
              <a:rPr sz="1000" i="0">
                <a:solidFill>
                  <a:srgbClr val="1D1D1F"/>
                </a:solidFill>
                <a:latin typeface="Google Sans Flex"/>
              </a:rPr>
              <a:t>verified breeders → trusted listings → more buyers → more sales and care data → sharper fair prices and trust scores → more breeders join.</a:t>
            </a:r>
          </a:p>
          <a:p>
            <a:pPr algn="l">
              <a:spcAft>
                <a:spcPts val="300"/>
              </a:spcAft>
            </a:pPr>
            <a:r>
              <a:rPr sz="1000" i="0">
                <a:solidFill>
                  <a:srgbClr val="1F6E43"/>
                </a:solidFill>
                <a:latin typeface="Google Sans Flex SemiBold"/>
              </a:rPr>
              <a:t>Impact we measure, live in the app: </a:t>
            </a:r>
            <a:r>
              <a:rPr sz="1000" i="0">
                <a:solidFill>
                  <a:srgbClr val="1D1D1F"/>
                </a:solidFill>
                <a:latin typeface="Google Sans Flex"/>
              </a:rPr>
              <a:t>listings checked before going live · protected animals stopped · scam warnings raised · verified breeders. Every warning can be shared back to the group it came from, and protected species come with a way to report them.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320040" y="4681728"/>
            <a:ext cx="85039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650" i="0">
                <a:solidFill>
                  <a:srgbClr val="5F5F64"/>
                </a:solidFill>
                <a:latin typeface="Google Sans Flex"/>
              </a:rPr>
              <a:t>Revenue lines and rollout are plans, not results · ¹ Euromonitor 2025 · ⁷ IMARC Group, India Pet Care Products Market (2026) · Cost: docs/submission/05-deck-sources.md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1" name="Google Shape;171;p2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2" name="Google Shape;172;p28" title="Frame 145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0"/>
            <a:ext cx="9144000" cy="51435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64" name="Google Shape;164;p27" title="Frame 144.png"/>
          <p:cNvPicPr preferRelativeResize="0"/>
          <p:nvPr/>
        </p:nvPicPr>
        <p:blipFill rotWithShape="1">
          <a:blip r:embed="rId2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5" name="Google Shape;165;p27" title="Group 42731997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2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23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From pain to product: the whole journey, end to end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graphicFrame>
        <p:nvGraphicFramePr>
          <p:cNvPr id="167" name="Table 166"/>
          <p:cNvGraphicFramePr>
            <a:graphicFrameLocks noGrp="1"/>
          </p:cNvGraphicFramePr>
          <p:nvPr/>
        </p:nvGraphicFramePr>
        <p:xfrm>
          <a:off x="320040" y="1097280"/>
          <a:ext cx="8503920" cy="32095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5800"/>
                <a:gridCol w="2331720"/>
                <a:gridCol w="3154680"/>
                <a:gridCol w="2331720"/>
              </a:tblGrid>
              <a:tr h="356616">
                <a:tc>
                  <a:txBody>
                    <a:bodyPr wrap="square"/>
                    <a:lstStyle/>
                    <a:p>
                      <a:r>
                        <a:rPr sz="880">
                          <a:solidFill>
                            <a:srgbClr val="FFFFFF"/>
                          </a:solidFill>
                          <a:latin typeface="Google Sans Flex SemiBold"/>
                        </a:rPr>
                        <a:t>Step</a:t>
                      </a:r>
                    </a:p>
                  </a:txBody>
                  <a:tcPr marL="54864" marR="54864" marT="22860" marB="22860" anchor="ctr">
                    <a:solidFill>
                      <a:srgbClr val="1D1D1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80">
                          <a:solidFill>
                            <a:srgbClr val="FFFFFF"/>
                          </a:solidFill>
                          <a:latin typeface="Google Sans Flex SemiBold"/>
                        </a:rPr>
                        <a:t>Today, in groups and shops</a:t>
                      </a:r>
                    </a:p>
                  </a:txBody>
                  <a:tcPr marL="54864" marR="54864" marT="22860" marB="22860" anchor="ctr">
                    <a:solidFill>
                      <a:srgbClr val="1D1D1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80">
                          <a:solidFill>
                            <a:srgbClr val="FFFFFF"/>
                          </a:solidFill>
                          <a:latin typeface="Google Sans Flex SemiBold"/>
                        </a:rPr>
                        <a:t>With BreederNear AI</a:t>
                      </a:r>
                    </a:p>
                  </a:txBody>
                  <a:tcPr marL="54864" marR="54864" marT="22860" marB="22860" anchor="ctr">
                    <a:solidFill>
                      <a:srgbClr val="1D1D1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80">
                          <a:solidFill>
                            <a:srgbClr val="FFFFFF"/>
                          </a:solidFill>
                          <a:latin typeface="Google Sans Flex SemiBold"/>
                        </a:rPr>
                        <a:t>Built and measured</a:t>
                      </a:r>
                    </a:p>
                  </a:txBody>
                  <a:tcPr marL="54864" marR="54864" marT="22860" marB="22860" anchor="ctr">
                    <a:solidFill>
                      <a:srgbClr val="1D1D1F"/>
                    </a:solidFill>
                  </a:tcPr>
                </a:tc>
              </a:tr>
              <a:tr h="356616">
                <a:tc>
                  <a:txBody>
                    <a:bodyPr wrap="square"/>
                    <a:lstStyle/>
                    <a:p>
                      <a:r>
                        <a:rPr sz="880">
                          <a:solidFill>
                            <a:srgbClr val="1D1D1F"/>
                          </a:solidFill>
                          <a:latin typeface="Google Sans Flex"/>
                        </a:rPr>
                        <a:t>Find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80">
                          <a:solidFill>
                            <a:srgbClr val="1D1D1F"/>
                          </a:solidFill>
                          <a:latin typeface="Google Sans Flex"/>
                        </a:rPr>
                        <a:t>Walk into the nearest shop; the breeder next door is invisible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80">
                          <a:solidFill>
                            <a:srgbClr val="1D1D1F"/>
                          </a:solidFill>
                          <a:latin typeface="Google Sans Flex"/>
                        </a:rPr>
                        <a:t>Pets near you, trusted first, a match % for your home, a fair-price bar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80">
                          <a:solidFill>
                            <a:srgbClr val="1D1D1F"/>
                          </a:solidFill>
                          <a:latin typeface="Google Sans Flex"/>
                        </a:rPr>
                        <a:t>Match % calculated in code; 16 sample breeders, 36 sample pets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56616">
                <a:tc>
                  <a:txBody>
                    <a:bodyPr wrap="square"/>
                    <a:lstStyle/>
                    <a:p>
                      <a:r>
                        <a:rPr sz="880">
                          <a:solidFill>
                            <a:srgbClr val="1D1D1F"/>
                          </a:solidFill>
                          <a:latin typeface="Google Sans Flex"/>
                        </a:rPr>
                        <a:t>List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80">
                          <a:solidFill>
                            <a:srgbClr val="1D1D1F"/>
                          </a:solidFill>
                          <a:latin typeface="Google Sans Flex"/>
                        </a:rPr>
                        <a:t>Breeder retypes the same post in every group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80">
                          <a:solidFill>
                            <a:srgbClr val="1D1D1F"/>
                          </a:solidFill>
                          <a:latin typeface="Google Sans Flex"/>
                        </a:rPr>
                        <a:t>Photos + a Tamil or English message, typed or as a voice note, become a full listing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80">
                          <a:solidFill>
                            <a:srgbClr val="1D1D1F"/>
                          </a:solidFill>
                          <a:latin typeface="Google Sans Flex"/>
                        </a:rPr>
                        <a:t>17–27 s live: upload, AI fill, trust check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</a:tr>
              <a:tr h="356616">
                <a:tc>
                  <a:txBody>
                    <a:bodyPr wrap="square"/>
                    <a:lstStyle/>
                    <a:p>
                      <a:r>
                        <a:rPr sz="880">
                          <a:solidFill>
                            <a:srgbClr val="1D1D1F"/>
                          </a:solidFill>
                          <a:latin typeface="Google Sans Flex"/>
                        </a:rPr>
                        <a:t>Trust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80">
                          <a:solidFill>
                            <a:srgbClr val="1D1D1F"/>
                          </a:solidFill>
                          <a:latin typeface="Google Sans Flex"/>
                        </a:rPr>
                        <a:t>No checks: stolen photos, scam prices, protected birds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80">
                          <a:solidFill>
                            <a:srgbClr val="1D1D1F"/>
                          </a:solidFill>
                          <a:latin typeface="Google Sans Flex"/>
                        </a:rPr>
                        <a:t>Every listing screened before it goes live; Verified breeder badge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80">
                          <a:solidFill>
                            <a:srgbClr val="1F6E43"/>
                          </a:solidFill>
                          <a:latin typeface="Google Sans Flex SemiBold"/>
                        </a:rPr>
                        <a:t>8/8 protected species blocked, 0/37 false alarms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56616">
                <a:tc>
                  <a:txBody>
                    <a:bodyPr wrap="square"/>
                    <a:lstStyle/>
                    <a:p>
                      <a:r>
                        <a:rPr sz="880">
                          <a:solidFill>
                            <a:srgbClr val="1D1D1F"/>
                          </a:solidFill>
                          <a:latin typeface="Google Sans Flex"/>
                        </a:rPr>
                        <a:t>Check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80">
                          <a:solidFill>
                            <a:srgbClr val="1D1D1F"/>
                          </a:solidFill>
                          <a:latin typeface="Google Sans Flex"/>
                        </a:rPr>
                        <a:t>Pay a stranger on social media in full, in advance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80">
                          <a:solidFill>
                            <a:srgbClr val="1D1D1F"/>
                          </a:solidFill>
                          <a:latin typeface="Google Sans Flex"/>
                        </a:rPr>
                        <a:t>Paste any outside post: “Is this post safe?”; share the warning back to the group; report protected animals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80">
                          <a:solidFill>
                            <a:srgbClr val="1D1D1F"/>
                          </a:solidFill>
                          <a:latin typeface="Google Sans Flex"/>
                        </a:rPr>
                        <a:t>5–7 s per post; nothing stored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</a:tr>
              <a:tr h="356616">
                <a:tc>
                  <a:txBody>
                    <a:bodyPr wrap="square"/>
                    <a:lstStyle/>
                    <a:p>
                      <a:r>
                        <a:rPr sz="880">
                          <a:solidFill>
                            <a:srgbClr val="1D1D1F"/>
                          </a:solidFill>
                          <a:latin typeface="Google Sans Flex"/>
                        </a:rPr>
                        <a:t>Talk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80">
                          <a:solidFill>
                            <a:srgbClr val="1D1D1F"/>
                          </a:solidFill>
                          <a:latin typeface="Google Sans Flex"/>
                        </a:rPr>
                        <a:t>Endless calls and the same answers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80">
                          <a:solidFill>
                            <a:srgbClr val="1D1D1F"/>
                          </a:solidFill>
                          <a:latin typeface="Google Sans Flex"/>
                        </a:rPr>
                        <a:t>AI drafts the buyer’s first message and the breeder’s reply; scam shield on both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80">
                          <a:solidFill>
                            <a:srgbClr val="1D1D1F"/>
                          </a:solidFill>
                          <a:latin typeface="Google Sans Flex"/>
                        </a:rPr>
                        <a:t>Scam scan on every enquiry and reply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56616">
                <a:tc>
                  <a:txBody>
                    <a:bodyPr wrap="square"/>
                    <a:lstStyle/>
                    <a:p>
                      <a:r>
                        <a:rPr sz="880">
                          <a:solidFill>
                            <a:srgbClr val="1D1D1F"/>
                          </a:solidFill>
                          <a:latin typeface="Google Sans Flex"/>
                        </a:rPr>
                        <a:t>Buy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80">
                          <a:solidFill>
                            <a:srgbClr val="1D1D1F"/>
                          </a:solidFill>
                          <a:latin typeface="Google Sans Flex"/>
                        </a:rPr>
                        <a:t>“Courier only”, no handover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80">
                          <a:solidFill>
                            <a:srgbClr val="1D1D1F"/>
                          </a:solidFill>
                          <a:latin typeface="Google Sans Flex"/>
                        </a:rPr>
                        <a:t>Book a visit, see the pet, pay in person, tap “I bought this pet”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80">
                          <a:solidFill>
                            <a:srgbClr val="1D1D1F"/>
                          </a:solidFill>
                          <a:latin typeface="Google Sans Flex"/>
                        </a:rPr>
                        <a:t>No payments in the app, by design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</a:tr>
              <a:tr h="356616">
                <a:tc>
                  <a:txBody>
                    <a:bodyPr wrap="square"/>
                    <a:lstStyle/>
                    <a:p>
                      <a:r>
                        <a:rPr sz="880">
                          <a:solidFill>
                            <a:srgbClr val="1D1D1F"/>
                          </a:solidFill>
                          <a:latin typeface="Google Sans Flex"/>
                        </a:rPr>
                        <a:t>After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80">
                          <a:solidFill>
                            <a:srgbClr val="1D1D1F"/>
                          </a:solidFill>
                          <a:latin typeface="Google Sans Flex"/>
                        </a:rPr>
                        <a:t>New owner on their own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80">
                          <a:solidFill>
                            <a:srgbClr val="1D1D1F"/>
                          </a:solidFill>
                          <a:latin typeface="Google Sans Flex"/>
                        </a:rPr>
                        <a:t>Starter kit sized for welfare, 14-day plan, daily log, growth, symptom urgency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80">
                          <a:solidFill>
                            <a:srgbClr val="1F6E43"/>
                          </a:solidFill>
                          <a:latin typeface="Google Sans Flex SemiBold"/>
                        </a:rPr>
                        <a:t>Never a medicine or dose (evals E11, E19)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56616">
                <a:tc>
                  <a:txBody>
                    <a:bodyPr wrap="square"/>
                    <a:lstStyle/>
                    <a:p>
                      <a:r>
                        <a:rPr sz="880">
                          <a:solidFill>
                            <a:srgbClr val="1D1D1F"/>
                          </a:solidFill>
                          <a:latin typeface="Google Sans Flex"/>
                        </a:rPr>
                        <a:t>Grow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80">
                          <a:solidFill>
                            <a:srgbClr val="1D1D1F"/>
                          </a:solidFill>
                          <a:latin typeface="Google Sans Flex"/>
                        </a:rPr>
                        <a:t>Breeder has no data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80">
                          <a:solidFill>
                            <a:srgbClr val="1D1D1F"/>
                          </a:solidFill>
                          <a:latin typeface="Google Sans Flex"/>
                        </a:rPr>
                        <a:t>Dashboard: views, enquiries, visits and sales, week on week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80">
                          <a:solidFill>
                            <a:srgbClr val="1D1D1F"/>
                          </a:solidFill>
                          <a:latin typeface="Google Sans Flex"/>
                        </a:rPr>
                        <a:t>8-week charts and trend cards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</a:tr>
            </a:tbl>
          </a:graphicData>
        </a:graphic>
      </p:graphicFrame>
      <p:sp>
        <p:nvSpPr>
          <p:cNvPr id="168" name="TextBox 167"/>
          <p:cNvSpPr txBox="1"/>
          <p:nvPr/>
        </p:nvSpPr>
        <p:spPr>
          <a:xfrm>
            <a:off x="320040" y="4407408"/>
            <a:ext cx="85039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i="0">
                <a:solidFill>
                  <a:srgbClr val="1F6E43"/>
                </a:solidFill>
                <a:latin typeface="Google Sans Flex SemiBold"/>
              </a:rPr>
              <a:t>One tool layer, two ways in: </a:t>
            </a:r>
            <a:r>
              <a:rPr sz="1000" i="0">
                <a:solidFill>
                  <a:srgbClr val="1D1D1F"/>
                </a:solidFill>
                <a:latin typeface="Google Sans Flex"/>
              </a:rPr>
              <a:t>every step works by tapping or by asking seven Gemini agents in English or Tamil. Live now: 69/69 agent eval runs, 339 unit tests, 0 accessibility problems.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64" name="Google Shape;164;p27" title="Frame 144.png"/>
          <p:cNvPicPr preferRelativeResize="0"/>
          <p:nvPr/>
        </p:nvPicPr>
        <p:blipFill rotWithShape="1">
          <a:blip r:embed="rId2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5" name="Google Shape;165;p27" title="Group 42731997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2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23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Google Cloud AI map: which AI does each job, and how well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graphicFrame>
        <p:nvGraphicFramePr>
          <p:cNvPr id="167" name="Table 166"/>
          <p:cNvGraphicFramePr>
            <a:graphicFrameLocks noGrp="1"/>
          </p:cNvGraphicFramePr>
          <p:nvPr/>
        </p:nvGraphicFramePr>
        <p:xfrm>
          <a:off x="320040" y="1097280"/>
          <a:ext cx="8503920" cy="3456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0200"/>
                <a:gridCol w="4343400"/>
                <a:gridCol w="256032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FFFFFF"/>
                          </a:solidFill>
                          <a:latin typeface="Google Sans Flex SemiBold"/>
                        </a:rPr>
                        <a:t>Google Cloud AI</a:t>
                      </a:r>
                    </a:p>
                  </a:txBody>
                  <a:tcPr marL="54864" marR="54864" marT="22860" marB="22860" anchor="ctr">
                    <a:solidFill>
                      <a:srgbClr val="1D1D1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FFFFFF"/>
                          </a:solidFill>
                          <a:latin typeface="Google Sans Flex SemiBold"/>
                        </a:rPr>
                        <a:t>What it does in BreederNear AI</a:t>
                      </a:r>
                    </a:p>
                  </a:txBody>
                  <a:tcPr marL="54864" marR="54864" marT="22860" marB="22860" anchor="ctr">
                    <a:solidFill>
                      <a:srgbClr val="1D1D1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FFFFFF"/>
                          </a:solidFill>
                          <a:latin typeface="Google Sans Flex SemiBold"/>
                        </a:rPr>
                        <a:t>Measured</a:t>
                      </a:r>
                    </a:p>
                  </a:txBody>
                  <a:tcPr marL="54864" marR="54864" marT="22860" marB="22860" anchor="ctr">
                    <a:solidFill>
                      <a:srgbClr val="1D1D1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1D1D1F"/>
                          </a:solidFill>
                          <a:latin typeface="Google Sans Flex"/>
                        </a:rPr>
                        <a:t>Gemini vision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1D1D1F"/>
                          </a:solidFill>
                          <a:latin typeface="Google Sans Flex"/>
                        </a:rPr>
                        <a:t>Listing photos: species, protected birds, dye, blur, watermarks, stock photos. Facility photos, dog-breeder certificates, vaccination cards, food photos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1F6E43"/>
                          </a:solidFill>
                          <a:latin typeface="Google Sans Flex SemiBold"/>
                        </a:rPr>
                        <a:t>8/8 protected species blocked; 0/37 false alarms; 202/202 photo checks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1D1D1F"/>
                          </a:solidFill>
                          <a:latin typeface="Google Sans Flex"/>
                        </a:rPr>
                        <a:t>Gemini audio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1D1D1F"/>
                          </a:solidFill>
                          <a:latin typeface="Google Sans Flex"/>
                        </a:rPr>
                        <a:t>A breeder’s Tamil or English voice note becomes a full listing, with a transcript; no separate speech-to-text step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1F6E43"/>
                          </a:solidFill>
                          <a:latin typeface="Google Sans Flex SemiBold"/>
                        </a:rPr>
                        <a:t>Tamil voice note → correct listing (3/3 eval runs, E23)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1D1D1F"/>
                          </a:solidFill>
                          <a:latin typeface="Google Sans Flex"/>
                        </a:rPr>
                        <a:t>Gemini, multilingual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1D1D1F"/>
                          </a:solidFill>
                          <a:latin typeface="Google Sans Flex"/>
                        </a:rPr>
                        <a:t>Romanised Tamil and English sale messages; a buyer’s own words become a home profile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1D1D1F"/>
                          </a:solidFill>
                          <a:latin typeface="Google Sans Flex"/>
                        </a:rPr>
                        <a:t>Tamil message → same listing (E02); profile → match % (E21)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1D1D1F"/>
                          </a:solidFill>
                          <a:latin typeface="Google Sans Flex"/>
                        </a:rPr>
                        <a:t>Gemini structured output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1D1D1F"/>
                          </a:solidFill>
                          <a:latin typeface="Google Sans Flex"/>
                        </a:rPr>
                        <a:t>12 task types, each with a JSON schema. Gemini reads and writes; code decides trust, badges, match % and urgency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1D1D1F"/>
                          </a:solidFill>
                          <a:latin typeface="Google Sans Flex"/>
                        </a:rPr>
                        <a:t>Prompt injection still ends in CAUTION (E12)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1D1D1F"/>
                          </a:solidFill>
                          <a:latin typeface="Google Sans Flex"/>
                        </a:rPr>
                        <a:t>Google ADK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1D1D1F"/>
                          </a:solidFill>
                          <a:latin typeface="Google Sans Flex"/>
                        </a:rPr>
                        <a:t>7 agents (a concierge and 6 specialists) and 29 tools, the same tools the tap screens use; streamed replies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1F6E43"/>
                          </a:solidFill>
                          <a:latin typeface="Google Sans Flex SemiBold"/>
                        </a:rPr>
                        <a:t>69/69 agent eval runs passed (23 cases × 3 runs)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1D1D1F"/>
                          </a:solidFill>
                          <a:latin typeface="Google Sans Flex"/>
                        </a:rPr>
                        <a:t>ADK callbacks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1D1D1F"/>
                          </a:solidFill>
                          <a:latin typeface="Google Sans Flex"/>
                        </a:rPr>
                        <a:t>Context before every model call; every reply checked for medicine names and doses, even while streaming; every tool call logged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1D1D1F"/>
                          </a:solidFill>
                          <a:latin typeface="Google Sans Flex"/>
                        </a:rPr>
                        <a:t>No drug names or doses (E11, E19)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1D1D1F"/>
                          </a:solidFill>
                          <a:latin typeface="Google Sans Flex"/>
                        </a:rPr>
                        <a:t>Vertex AI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1D1D1F"/>
                          </a:solidFill>
                          <a:latin typeface="Google Sans Flex"/>
                        </a:rPr>
                        <a:t>Gemini 3.8 Flash on the global endpoint, retries with backoff on 408, 429 and 5xx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1D1D1F"/>
                          </a:solidFill>
                          <a:latin typeface="Google Sans Flex"/>
                        </a:rPr>
                        <a:t>Listing in 17–27 s; post check 5–7 s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1D1D1F"/>
                          </a:solidFill>
                          <a:latin typeface="Google Sans Flex"/>
                        </a:rPr>
                        <a:t>Firebase Auth, Cloud Run, Firestore, Storage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1D1D1F"/>
                          </a:solidFill>
                          <a:latin typeface="Google Sans Flex"/>
                        </a:rPr>
                        <a:t>Google sign-in; the API and agents; all data; private uploads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1D1D1F"/>
                          </a:solidFill>
                          <a:latin typeface="Google Sans Flex"/>
                        </a:rPr>
                        <a:t>Smoke test 17/17 on every release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