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70" r:id="rId20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14.jpg"/><Relationship Id="rId9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BreederNear AI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Sudarsan N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Retail &amp; Commerce: trusted, legal breeder-to-buyer pet commerce in India (BreederNear AI)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069848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1F6E43"/>
                </a:solidFill>
                <a:latin typeface="Google Sans Flex SemiBold"/>
              </a:rPr>
              <a:t>BreederNear AI: </a:t>
            </a:r>
            <a:r>
              <a:rPr sz="1500" i="0">
                <a:solidFill>
                  <a:srgbClr val="1D1D1F"/>
                </a:solidFill>
                <a:latin typeface="Google Sans Flex SemiBold"/>
              </a:rPr>
              <a:t>find the trusted breeder next door.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536192"/>
            <a:ext cx="4160520" cy="3063240"/>
          </a:xfrm>
          <a:prstGeom prst="roundRect">
            <a:avLst>
              <a:gd name="adj" fmla="val 2388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11479" y="1609344"/>
            <a:ext cx="3977639" cy="29535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C0261C"/>
                </a:solidFill>
                <a:latin typeface="Google Sans Flex SemiBold"/>
              </a:rPr>
              <a:t>The problem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India has about 39 million pets¹, but buying one is a gamble. OLX stopped live-animal listings², so the trade moved to WhatsApp and Facebook groups with no checks at all.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Buyers overpay in shops or lose money to “full advance, courier only” posts with stolen photos.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Protected native birds are still sold: 300+ of India’s ~1,200 bird species are found in illegal trade³, and munias are dyed to disguise them⁴.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Real local breeders, often a street away, are invisible and lose hours to manual selling.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663440" y="1536192"/>
            <a:ext cx="4160520" cy="3063240"/>
          </a:xfrm>
          <a:prstGeom prst="roundRect">
            <a:avLst>
              <a:gd name="adj" fmla="val 2388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754879" y="1609344"/>
            <a:ext cx="3977639" cy="29535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Our solution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A breeder-to-buyer pet marketplace where every listing is screened by Gemini and by rules in code before any buyer sees it.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Sellers list from photos and a casual Tamil or English message in under a minute.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Buyers find trusted pets nearby at fair prices, then get a welfare-sized starter kit and a 14-day care plan.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“Is this post safe?”: buyers can check any post they saw in a WhatsApp or Instagram group.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Built from our founder’s five years as a bird breeder and broker in Coimbatore.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¹ Euromonitor, Pet Care in India (2025) · ² OLX India: items not allowed · ³ WWF-India / TRAFFIC · ⁴ Wildlife SOS, Delhi seizure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11479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How is it different?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Classifieds such as OLX stopped live-animal listings; big pet platforms sell food and accessories.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A few kennel websites sell dogs, checking only themselves.</a:t>
            </a:r>
          </a:p>
          <a:p>
            <a:pPr algn="l">
              <a:spcAft>
                <a:spcPts val="300"/>
              </a:spcAft>
            </a:pPr>
            <a:r>
              <a:rPr sz="1040" i="0">
                <a:solidFill>
                  <a:srgbClr val="1D1D1F"/>
                </a:solidFill>
                <a:latin typeface="Google Sans Flex SemiBold"/>
              </a:rPr>
              <a:t>No platform we found checks every listing for wildlife law, registration, scam prices and reused photos before it goes live, or checks posts from outside groups.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156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33070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How does it solve the problem?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Gemini turns photos and a messy message into a structured, fairly priced listing.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Trust is decided by transparent code: protected species blocked, dog registration checked, price and scam-language warnings, reused-photo detection.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Buyers see why: every badge lists its reasons and the questions to ask.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In-person handover; AI-drafted replies; starter kit and care plan.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12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2026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9A5700"/>
                </a:solidFill>
                <a:latin typeface="Google Sans Flex SemiBold"/>
              </a:rPr>
              <a:t>USP</a:t>
            </a:r>
          </a:p>
          <a:p>
            <a:pPr algn="l">
              <a:spcAft>
                <a:spcPts val="300"/>
              </a:spcAft>
            </a:pPr>
            <a:r>
              <a:rPr sz="1040" i="0">
                <a:solidFill>
                  <a:srgbClr val="1D1D1F"/>
                </a:solidFill>
                <a:latin typeface="Google Sans Flex SemiBold"/>
              </a:rPr>
              <a:t>Trust built in, not bolted on.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from the photo alone: 8/8 in testing, 0/37 false alarms.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The AI can’t override the rules: prompt injection still ends in CAUTION (eval E12).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Works where the trade happens: Tamil/English messages and outside posts.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One tool layer for tap screens and the AI chat.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15568"/>
            <a:ext cx="4114800" cy="2514600"/>
          </a:xfrm>
          <a:prstGeom prst="roundRect">
            <a:avLst>
              <a:gd name="adj" fmla="val 2909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411479" y="1188720"/>
            <a:ext cx="3931920" cy="24048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For buyers (customer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Pets near me: trusted first, distance, fair-price bar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Listing page: trust checks, health notes, questions to ask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“Which pet suits me?” quiz: home, family, time, budget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“Is this post safe?” for WhatsApp or Instagram posts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Contact the breeder; replies appear under Account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Welfare-sized starter kit, 14-day care plan with vet warning signs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Local Breeders directory: buy direct at farm prices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09159" y="1115568"/>
            <a:ext cx="4114800" cy="2514600"/>
          </a:xfrm>
          <a:prstGeom prst="roundRect">
            <a:avLst>
              <a:gd name="adj" fmla="val 2909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800599" y="1188720"/>
            <a:ext cx="3931920" cy="24048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For sellers (seller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“Fill with AI”: photos + a Tamil/English message become a listing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Publish with trust check: TRUSTED, CAUTION or BLOCKED, with reasons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Dashboard: live listings, views, enquiries, trust status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Manage listings: pause, resume, mark sold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Enquiries with AI-drafted replies from the listing’s facts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Farm profile and dog-breeder registration (simulated registry)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" y="3767328"/>
            <a:ext cx="8503920" cy="1051560"/>
          </a:xfrm>
          <a:prstGeom prst="roundRect">
            <a:avLst>
              <a:gd name="adj" fmla="val 695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411479" y="3840480"/>
            <a:ext cx="8321040" cy="94183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D1D1F"/>
                </a:solidFill>
                <a:latin typeface="Google Sans Flex SemiBold"/>
              </a:rPr>
              <a:t>Everywhere</a:t>
            </a:r>
          </a:p>
          <a:p>
            <a:pPr algn="l">
              <a:spcAft>
                <a:spcPts val="300"/>
              </a:spcAft>
            </a:pPr>
            <a:r>
              <a:rPr sz="1040" i="0">
                <a:solidFill>
                  <a:srgbClr val="1D1D1F"/>
                </a:solidFill>
                <a:latin typeface="Google Sans Flex SemiBold"/>
              </a:rPr>
              <a:t>BreederNear AI chat</a:t>
            </a:r>
            <a:r>
              <a:rPr sz="1040" i="0">
                <a:solidFill>
                  <a:srgbClr val="1D1D1F"/>
                </a:solidFill>
                <a:latin typeface="Google Sans Flex"/>
              </a:rPr>
              <a:t> (5 Gemini agents, English or Tamil) uses the same tools as the screens.  </a:t>
            </a:r>
            <a:r>
              <a:rPr sz="1040" i="0">
                <a:solidFill>
                  <a:srgbClr val="1D1D1F"/>
                </a:solidFill>
                <a:latin typeface="Google Sans Flex SemiBold"/>
              </a:rPr>
              <a:t>Safety:</a:t>
            </a:r>
            <a:r>
              <a:rPr sz="960" i="0">
                <a:solidFill>
                  <a:srgbClr val="1D1D1F"/>
                </a:solidFill>
                <a:latin typeface="Google Sans Flex"/>
              </a:rPr>
              <a:t> separate customer and seller accounts, roles checked in the API and inside the AI tools, rate limits, AI replies checked for medicine doses.  </a:t>
            </a:r>
            <a:r>
              <a:rPr sz="1040" i="0">
                <a:solidFill>
                  <a:srgbClr val="1D1D1F"/>
                </a:solidFill>
                <a:latin typeface="Google Sans Flex SemiBold"/>
              </a:rPr>
              <a:t>Accessible:</a:t>
            </a:r>
            <a:r>
              <a:rPr sz="1040" i="0">
                <a:solidFill>
                  <a:srgbClr val="1D1D1F"/>
                </a:solidFill>
                <a:latin typeface="Google Sans Flex"/>
              </a:rPr>
              <a:t> WCAG 2.2 AA, light and dark, phone to desktop.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09728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SELLER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56615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Photos + message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Tamil or English, as in WhatsApp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801368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066544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2103120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Gemini fills the form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multimodal, JSON schema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547872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3813048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3849624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Seller checks 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edit any field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294376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559552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5596128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Trust screening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Gemini vision + rules in code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040880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7306056" y="1298448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7342631" y="1298448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C0261C"/>
                </a:solidFill>
                <a:latin typeface="Google Sans Flex SemiBold"/>
              </a:rPr>
              <a:t>BLOCKED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never shown to buyers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6" y="1719072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7342631" y="1719072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F6E43"/>
                </a:solidFill>
                <a:latin typeface="Google Sans Flex SemiBold"/>
              </a:rPr>
              <a:t>TRUSTED / CAUTION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with reasons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0040" y="2194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BUYER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Browse or take the quiz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pets near my district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801368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2066544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103120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Listing + trust card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reasons, fair price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3547872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3813048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3849624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Contact breeder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enquiry, no contact details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294376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5559552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5596128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Seller replies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AI draft, seller edits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7040880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7306056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7342631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Visit and pay in person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see the parents first</a:t>
            </a:r>
          </a:p>
        </p:txBody>
      </p:sp>
      <p:cxnSp>
        <p:nvCxnSpPr>
          <p:cNvPr id="128" name="Connector 127"/>
          <p:cNvCxnSpPr/>
          <p:nvPr/>
        </p:nvCxnSpPr>
        <p:spPr>
          <a:xfrm flipH="1">
            <a:off x="2807208" y="2048256"/>
            <a:ext cx="5239512" cy="393192"/>
          </a:xfrm>
          <a:prstGeom prst="line">
            <a:avLst/>
          </a:prstGeom>
          <a:ln w="15875">
            <a:solidFill>
              <a:srgbClr val="1F6E4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4878324" y="2061972"/>
            <a:ext cx="109728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listings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306056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342631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Starter kit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cage sized for the animals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559552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5596128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14-day care plan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vet warning signs, no doses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8046720" y="3099815"/>
            <a:ext cx="0" cy="347473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7040880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/>
          <p:cNvSpPr/>
          <p:nvPr/>
        </p:nvSpPr>
        <p:spPr>
          <a:xfrm>
            <a:off x="320040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56615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Post in a WhatsApp group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066544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2103120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“Is this post safe?”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nothing is stored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813048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3849624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CAUTION + questions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never pay before visiting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801368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547872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20040" y="4645152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Every step works by tapping, or by asking BreederNear AI in chat: the same tools, the same checks.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499984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172815" y="4398264"/>
            <a:ext cx="177430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Login: one-tap demo accounts</a:t>
            </a:r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499984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1928831" y="4398264"/>
            <a:ext cx="177430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Pets near me</a:t>
            </a:r>
          </a:p>
        </p:txBody>
      </p:sp>
      <p:pic>
        <p:nvPicPr>
          <p:cNvPr id="108" name="Picture 107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499984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3684847" y="4398264"/>
            <a:ext cx="177430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Listing + trust checks</a:t>
            </a:r>
          </a:p>
        </p:txBody>
      </p:sp>
      <p:pic>
        <p:nvPicPr>
          <p:cNvPr id="110" name="Picture 10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499984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1" name="TextBox 110"/>
          <p:cNvSpPr txBox="1"/>
          <p:nvPr/>
        </p:nvSpPr>
        <p:spPr>
          <a:xfrm>
            <a:off x="5440864" y="4398264"/>
            <a:ext cx="177430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Welfare-sized kit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499984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3" name="TextBox 112"/>
          <p:cNvSpPr txBox="1"/>
          <p:nvPr/>
        </p:nvSpPr>
        <p:spPr>
          <a:xfrm>
            <a:off x="7196880" y="4398264"/>
            <a:ext cx="177430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AI buyer guide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234440"/>
            <a:ext cx="1234440" cy="566928"/>
          </a:xfrm>
          <a:prstGeom prst="roundRect">
            <a:avLst>
              <a:gd name="adj" fmla="val 1129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56615" y="1234440"/>
            <a:ext cx="1161288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Buyers &amp; sellers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phone or laptop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148840"/>
            <a:ext cx="1234440" cy="731520"/>
          </a:xfrm>
          <a:prstGeom prst="roundRect">
            <a:avLst>
              <a:gd name="adj" fmla="val 8750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2148840"/>
            <a:ext cx="1161288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Hosting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web app on Google’s CDN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932688" y="1801368"/>
            <a:ext cx="0" cy="347472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1920240" y="1143000"/>
            <a:ext cx="4206240" cy="34290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029968" y="1188720"/>
            <a:ext cx="42062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5FA8"/>
                </a:solidFill>
                <a:latin typeface="Google Sans Flex SemiBold"/>
              </a:rPr>
              <a:t>Cloud Run (asia-south1)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57400" y="1490472"/>
            <a:ext cx="3931920" cy="384048"/>
          </a:xfrm>
          <a:prstGeom prst="roundRect">
            <a:avLst>
              <a:gd name="adj" fmla="val 1666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093976" y="1490472"/>
            <a:ext cx="3858768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D1D1F"/>
                </a:solidFill>
                <a:latin typeface="Google Sans Flex SemiBold"/>
              </a:rPr>
              <a:t>Gatekeeper · login · rate limits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only the routes the app uses; roles from the server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057400" y="1984248"/>
            <a:ext cx="1371600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2093976" y="1984248"/>
            <a:ext cx="129844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FastAPI /api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tap screens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566160" y="1984248"/>
            <a:ext cx="2423159" cy="1417320"/>
          </a:xfrm>
          <a:prstGeom prst="roundRect">
            <a:avLst>
              <a:gd name="adj" fmla="val 451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3611880" y="2011680"/>
            <a:ext cx="23317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Google ADK agents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4178807" y="2240280"/>
            <a:ext cx="1280160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4215383" y="2240280"/>
            <a:ext cx="1207007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i="0">
                <a:solidFill>
                  <a:srgbClr val="1D1D1F"/>
                </a:solidFill>
                <a:latin typeface="Google Sans Flex SemiBold"/>
              </a:rPr>
              <a:t>Concierge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675887" y="2697480"/>
            <a:ext cx="51206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3712463" y="2697480"/>
            <a:ext cx="43891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Listing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242816" y="2697480"/>
            <a:ext cx="51206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279392" y="2697480"/>
            <a:ext cx="43891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Trust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809744" y="2697480"/>
            <a:ext cx="51206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4846320" y="2697480"/>
            <a:ext cx="43891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Match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376671" y="2697480"/>
            <a:ext cx="51206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5413247" y="2697480"/>
            <a:ext cx="43891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Care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611880" y="3017520"/>
            <a:ext cx="2331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callbacks: context · reply guard · tool log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2057400" y="3538728"/>
            <a:ext cx="3931920" cy="868680"/>
          </a:xfrm>
          <a:prstGeom prst="roundRect">
            <a:avLst>
              <a:gd name="adj" fmla="val 7368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2093976" y="3538728"/>
            <a:ext cx="3858768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breedernear_core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one tool layer: listings · matching · care · accounts
safety rules · deterministic trust score · reused-photo hashing · distance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2743200" y="2642615"/>
            <a:ext cx="0" cy="896113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4754880" y="3401568"/>
            <a:ext cx="0" cy="13716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554480" y="251460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65759" y="2926080"/>
            <a:ext cx="1188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calls Cloud Run directly: API + streamed AI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492240" y="1143000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6528816" y="1143000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9A5700"/>
                </a:solidFill>
                <a:latin typeface="Google Sans Flex SemiBold"/>
              </a:rPr>
              <a:t>Gemini 3.8 Flash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Vertex AI: agents, photo screening,
extraction, care plans, replies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6126479" y="1444752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ounded Rectangle 144"/>
          <p:cNvSpPr/>
          <p:nvPr/>
        </p:nvSpPr>
        <p:spPr>
          <a:xfrm>
            <a:off x="6492240" y="1847088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528816" y="1847088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Firestore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accounts, listings, enquiries, carts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126479" y="2148840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ounded Rectangle 147"/>
          <p:cNvSpPr/>
          <p:nvPr/>
        </p:nvSpPr>
        <p:spPr>
          <a:xfrm>
            <a:off x="6492240" y="2551176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528816" y="2551176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Cloud Storage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private uploads, deleted after 30 days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6126479" y="2852928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/>
          <p:cNvSpPr/>
          <p:nvPr/>
        </p:nvSpPr>
        <p:spPr>
          <a:xfrm>
            <a:off x="6492240" y="3255264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6528816" y="3255264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Logging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one JSON line per tool call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6126479" y="3557016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ounded Rectangle 153"/>
          <p:cNvSpPr/>
          <p:nvPr/>
        </p:nvSpPr>
        <p:spPr>
          <a:xfrm>
            <a:off x="6492240" y="3959352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6528816" y="3959352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Build + Artifact Registry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deploy from source; GitHub Actions CI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6126479" y="4261104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15568"/>
          <a:ext cx="5577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84048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FFFFFF"/>
                          </a:solidFill>
                          <a:latin typeface="Google Sans Flex SemiBold"/>
                        </a:rPr>
                        <a:t>Google technology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FFFFFF"/>
                          </a:solidFill>
                          <a:latin typeface="Google Sans Flex SemiBold"/>
                        </a:rPr>
                        <a:t>How BreederNear AI uses it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Gemini 3.8 Flash (Vertex AI)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Five ADK agents; multimodal listing extraction from photos + Tamil/English text; photo screening (species, dye, stock photos); care plans; reply drafts. JSON-schema outputs.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Google ADK (Python)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Concierge + listing, trust, match and care agents; tools; callbacks on every agent; sessions; streamed replies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API and agents in one container; login gatekeeper; rate limits; asia-south1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The web app on Google’s CDN; calls Cloud Run directly (CORS) so AI replies stream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Firestore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Accounts (scrypt-hashed passwords), listings, drafts, enquiries, carts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Cloud Storage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Private upload bucket, 30-day deletion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Cloud Build, Artifact Registry, Cloud Logging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Deploy from source; structured tool-call logs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gemini-3.1-flash-image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Illustrative photos for the fictional sample listings (labelled in the app)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21" name="Rounded Rectangle 120"/>
          <p:cNvSpPr/>
          <p:nvPr/>
        </p:nvSpPr>
        <p:spPr>
          <a:xfrm>
            <a:off x="6080759" y="1115568"/>
            <a:ext cx="2743200" cy="2962656"/>
          </a:xfrm>
          <a:prstGeom prst="roundRect">
            <a:avLst>
              <a:gd name="adj" fmla="val 266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6172199" y="1188720"/>
            <a:ext cx="2560320" cy="2852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D1D1F"/>
                </a:solidFill>
                <a:latin typeface="Google Sans Flex SemiBold"/>
              </a:rPr>
              <a:t>Also used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30" i="0">
                <a:solidFill>
                  <a:srgbClr val="1D1D1F"/>
                </a:solidFill>
                <a:latin typeface="Google Sans Flex"/>
              </a:rPr>
              <a:t>Python 3.12, FastAPI, Pydantic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30" i="0">
                <a:solidFill>
                  <a:srgbClr val="1D1D1F"/>
                </a:solidFill>
                <a:latin typeface="Google Sans Flex"/>
              </a:rPr>
              <a:t>imagehash: perceptual hashing for reused photos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30" i="0">
                <a:solidFill>
                  <a:srgbClr val="1D1D1F"/>
                </a:solidFill>
                <a:latin typeface="Google Sans Flex"/>
              </a:rPr>
              <a:t>Plain HTML, CSS and JavaScript: no build step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30" i="0">
                <a:solidFill>
                  <a:srgbClr val="1D1D1F"/>
                </a:solidFill>
                <a:latin typeface="Google Sans Flex"/>
              </a:rPr>
              <a:t>pytest, Playwright + axe-core, GitHub Actions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30" i="0">
                <a:solidFill>
                  <a:srgbClr val="1D1D1F"/>
                </a:solidFill>
                <a:latin typeface="Google Sans Flex"/>
              </a:rPr>
              <a:t>Firebase CLI (deploy only)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15568"/>
          <a:ext cx="85039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43200"/>
                <a:gridCol w="219456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  <a:latin typeface="Google Sans Flex SemiBold"/>
                        </a:rPr>
                        <a:t>AI action (measured, real calls)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  <a:latin typeface="Google Sans Flex SemiBold"/>
                        </a:rPr>
                        <a:t>Gemini tokens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  <a:latin typeface="Google Sans Flex SemiBold"/>
                        </a:rPr>
                        <a:t>Cost per action*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List a pet: extract listing + screen photo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≈ 4,560 in · ≤ 1,075 out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≈ ₹1.3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Check an outside post (text only; a screenshot adds ≈ ₹0.5)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≈ 1,620 in · ≤ 445 out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≈ ₹0.5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14-day care plan (cached per species and age)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≈ 560 in · ≤ 1,680 out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≈ ₹1.2, once per species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Reply draft for an enquiry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≈ 500 in · ≤ 790 out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≈ ₹0.6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9" name="Table 128"/>
          <p:cNvGraphicFramePr>
            <a:graphicFrameLocks noGrp="1"/>
          </p:cNvGraphicFramePr>
          <p:nvPr/>
        </p:nvGraphicFramePr>
        <p:xfrm>
          <a:off x="320040" y="2779776"/>
          <a:ext cx="850392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43200"/>
                <a:gridCol w="219456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  <a:latin typeface="Google Sans Flex SemiBold"/>
                        </a:rPr>
                        <a:t>Running cost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  <a:latin typeface="Google Sans Flex SemiBold"/>
                        </a:rPr>
                        <a:t>Prototype through judging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  <a:latin typeface="Google Sans Flex SemiBold"/>
                        </a:rPr>
                        <a:t>Example: 10,000 listings a month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Cloud Run (1 always-on instance)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≈ ₹600–1,000 / month (estimate)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scales per request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Firestore, Cloud Storage, Firebase Hosting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within free usage at prototype scale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pay per use (not measured)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Gemini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a few hundred ₹ (tests + judges)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D1D1F"/>
                          </a:solidFill>
                          <a:latin typeface="Google Sans Flex"/>
                        </a:rPr>
                        <a:t>≈ ₹13,000 / month for screening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TextBox 129"/>
          <p:cNvSpPr txBox="1"/>
          <p:nvPr/>
        </p:nvSpPr>
        <p:spPr>
          <a:xfrm>
            <a:off x="320040" y="4041648"/>
            <a:ext cx="85039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1F6E43"/>
                </a:solidFill>
                <a:latin typeface="Google Sans Flex SemiBold"/>
              </a:rPr>
              <a:t>Screening a listing costs about ₹1.3, against animals priced from ₹400 to ₹25,000 in our sample listings, so trust checks are affordable on every listing.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*Measured tokens (10 Oct 2026); thinking tokens counted as output · Gemini 3.8 Flash at $1.50 in / $7.50 out per 1M tokens (list price from 1 Jan 2027, as reported by price trackers; introductory price until then is half) · ₹88 = $1 (assumption) · Estimates are labelled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499984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172815" y="4398264"/>
            <a:ext cx="177430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“Is this post safe?”</a:t>
            </a:r>
          </a:p>
        </p:txBody>
      </p:sp>
      <p:pic>
        <p:nvPicPr>
          <p:cNvPr id="138" name="Picture 13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499984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1928831" y="4398264"/>
            <a:ext cx="177430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Protected species: blocked</a:t>
            </a:r>
          </a:p>
        </p:txBody>
      </p:sp>
      <p:pic>
        <p:nvPicPr>
          <p:cNvPr id="140" name="Picture 139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499984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684847" y="4398264"/>
            <a:ext cx="177430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Seller dashboard</a:t>
            </a:r>
          </a:p>
        </p:txBody>
      </p:sp>
      <p:pic>
        <p:nvPicPr>
          <p:cNvPr id="142" name="Picture 14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499984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5440864" y="4398264"/>
            <a:ext cx="177430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AI-drafted reply</a:t>
            </a:r>
          </a:p>
        </p:txBody>
      </p:sp>
      <p:pic>
        <p:nvPicPr>
          <p:cNvPr id="144" name="Picture 143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499984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7196880" y="4398264"/>
            <a:ext cx="177430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14-day care plan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15568"/>
          <a:ext cx="5257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0972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FFFFFF"/>
                          </a:solidFill>
                          <a:latin typeface="Google Sans Flex SemiBold"/>
                        </a:rPr>
                        <a:t>Quality (real Gemini, 10 Oct 2026)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FFFFFF"/>
                          </a:solidFill>
                          <a:latin typeface="Google Sans Flex SemiBold"/>
                        </a:rP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Agent evals: 18 cases × 3 runs (listing, Tamil, blocking, scams, reused photos, prompt injection, no medicine advice, roles, explanations, reply drafts)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F6E43"/>
                          </a:solidFill>
                          <a:latin typeface="Google Sans Flex SemiBold"/>
                        </a:rPr>
                        <a:t>54/54 passed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Protected species blocked from the photo alone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F6E43"/>
                          </a:solidFill>
                          <a:latin typeface="Google Sans Flex SemiBold"/>
                        </a:rPr>
                        <a:t>8/8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Ordinary pets wrongly flagged as protected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F6E43"/>
                          </a:solidFill>
                          <a:latin typeface="Google Sans Flex SemiBold"/>
                        </a:rPr>
                        <a:t>0/37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All photo checks: species, dye, blur, no animal, watermark, screenshot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 SemiBold"/>
                        </a:rPr>
                        <a:t>202/202*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Accessibility: axe-core, WCAG 2.2 AA, light + dark, 320–1280 px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F6E43"/>
                          </a:solidFill>
                          <a:latin typeface="Google Sans Flex SemiBold"/>
                        </a:rPr>
                        <a:t>0 problems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Unit tests in CI · live smoke test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 SemiBold"/>
                        </a:rPr>
                        <a:t>249 · 17/17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5760720" y="1115568"/>
          <a:ext cx="3063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8229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FFFFFF"/>
                          </a:solidFill>
                          <a:latin typeface="Google Sans Flex SemiBold"/>
                        </a:rPr>
                        <a:t>Speed (live)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FFFFFF"/>
                          </a:solidFill>
                          <a:latin typeface="Google Sans Flex SemiBold"/>
                        </a:rPr>
                        <a:t>Time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List a pet: upload, AI fill, publish with trust check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17–27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Check a pasted post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5–7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Web app load (Firebase CDN)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≈ 0.7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Gemini: extract a listing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3–7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Gemini: screen a photo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30">
                          <a:solidFill>
                            <a:srgbClr val="1D1D1F"/>
                          </a:solidFill>
                          <a:latin typeface="Google Sans Flex"/>
                        </a:rPr>
                        <a:t>4–5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TextBox 145"/>
          <p:cNvSpPr txBox="1"/>
          <p:nvPr/>
        </p:nvSpPr>
        <p:spPr>
          <a:xfrm>
            <a:off x="5760720" y="3447287"/>
            <a:ext cx="3063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How we test</a:t>
            </a:r>
          </a:p>
          <a:p>
            <a:pPr algn="l">
              <a:spcAft>
                <a:spcPts val="300"/>
              </a:spcAft>
            </a:pPr>
            <a:r>
              <a:rPr sz="850" i="0">
                <a:solidFill>
                  <a:srgbClr val="1D1D1F"/>
                </a:solidFill>
                <a:latin typeface="Google Sans Flex"/>
              </a:rPr>
              <a:t>Gemini isn’t deterministic, so each eval runs three times and we report the count. Trust decisions are made by tested code, so the model can’t be talked out of them.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*Test photos are AI-generated and the screening prompt was tuned on them (first run 196/202), so treat this as an upper bound · Reproduce: scripts/run_evals.sh 3 · scripts/vision_accuracy.py · pytest -m ui tests/ui · evals/RESULTS.md, evals/VISION_RESULTS.md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1147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Roadmap (not in the prototype)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Pilot with real breeders in Coimbatore and Tiruppur, from the founder’s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List by sending a WhatsApp message (WhatsApp Business Platform)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Live State Animal Welfare Board and PARIVESH registry checks; the platform registrations India’s pet-trade rules require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Chat history in Agent Engine sessions, so Cloud Run can scale past one instance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Breeder ratings from buyer feedback and the pet’s health after sale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Hindi, Telugu, Kannada and more districts; vet and pet-pharmacy partners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709159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480059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Responsible by design (already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Protected species blocked in code, whatever the model says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No medicine names or doses: checked on every AI reply, even while streaming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Health signs are “ask the seller”, never a diagnosis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No addresses, ID documents or payment details collected; sellers never see buyers’ logins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Synthetic sample data, clearly labelled; simulated registry numbers start with SIM-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https://github.com/sudarsan-22/breedernear-ai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[add the YouTube link on 17 Oct]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https://breedernear-ai-2026.web.app  (API: https://breedernear-655711985039.asia-south1.run.app)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2148840"/>
            <a:ext cx="8503920" cy="960120"/>
          </a:xfrm>
          <a:prstGeom prst="roundRect">
            <a:avLst>
              <a:gd name="adj" fmla="val 7619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11479" y="2221992"/>
            <a:ext cx="8321040" cy="8503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Try it in 2 minutes: demo accounts with preloaded data</a:t>
            </a:r>
          </a:p>
          <a:p>
            <a:pPr algn="l">
              <a:spcAft>
                <a:spcPts val="300"/>
              </a:spcAft>
            </a:pPr>
            <a:r>
              <a:rPr sz="1100" i="0">
                <a:solidFill>
                  <a:srgbClr val="1D1D1F"/>
                </a:solidFill>
                <a:latin typeface="Google Sans Flex SemiBold"/>
              </a:rPr>
              <a:t>Customer: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priya.customer@example.com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Seller: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karthik.seller@example.com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Password: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demo12345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5F5F64"/>
                </a:solidFill>
                <a:latin typeface="Google Sans Flex"/>
              </a:rPr>
              <a:t>Or tap “Demo customer · Priya” / “Demo seller · Karthik” on the login screen. The README has a step-by-step walkthrough.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Business case and go-to-market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20040" y="1115568"/>
            <a:ext cx="2712720" cy="2377440"/>
          </a:xfrm>
          <a:prstGeom prst="roundRect">
            <a:avLst>
              <a:gd name="adj" fmla="val 307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411479" y="1188720"/>
            <a:ext cx="2529840" cy="2267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Revenue (planned)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Verified-breeder subscription: badge, dashboard insights, more listings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Featured listings in a district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Commission on starter kits and accessories from partner brands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B2B: trust-screening API for classifieds and pet shops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215640" y="1115568"/>
            <a:ext cx="2712720" cy="2377440"/>
          </a:xfrm>
          <a:prstGeom prst="roundRect">
            <a:avLst>
              <a:gd name="adj" fmla="val 307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3307080" y="1188720"/>
            <a:ext cx="2529840" cy="2267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Why it works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Screening costs about ₹1.3 per listing (measured tokens)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Serverless: Cloud Run and Firestore cost little when idle and scale per district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Trust is the product: OLX left this market because it couldn’t police sellers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111240" y="1115568"/>
            <a:ext cx="2712720" cy="2377440"/>
          </a:xfrm>
          <a:prstGeom prst="roundRect">
            <a:avLst>
              <a:gd name="adj" fmla="val 307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6202680" y="1188720"/>
            <a:ext cx="2529840" cy="2267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9A5700"/>
                </a:solidFill>
                <a:latin typeface="Google Sans Flex SemiBold"/>
              </a:rPr>
              <a:t>Go-to-market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Start where the founder trades: Coimbatore and Tiruppur breeder groups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Breeders onboard with one message and their phone photos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Buyers arrive via “Is this post safe?” links shared in the same groups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Then district by district across Tamil Nadu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20040" y="3630168"/>
            <a:ext cx="85039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Who benefits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1D1D1F"/>
                </a:solidFill>
                <a:latin typeface="Google Sans Flex"/>
              </a:rPr>
              <a:t>Buyers: fair prices and healthier, legal pets.  Breeders: hours saved and buyers beyond their own contacts.  Wildlife: fewer protected birds traded, because illegal listings never go live.</a:t>
            </a:r>
          </a:p>
          <a:p>
            <a:pPr algn="l">
              <a:spcAft>
                <a:spcPts val="30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Revenue lines and the rollout are plans and assumptions, not results.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