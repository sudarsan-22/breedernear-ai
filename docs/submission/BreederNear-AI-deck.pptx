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72" r:id="rId22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0" r:id="rId20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800">
                <a:latin typeface="Google Sans Flex Medium"/>
                <a:ea typeface="Google Sans Flex"/>
                <a:cs typeface="Google Sans Flex"/>
                <a:sym typeface="Google Sans Flex"/>
              </a:rPr>
              <a:t>BreederNear AI</a:t>
            </a: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800">
                <a:latin typeface="Google Sans Flex Medium"/>
                <a:ea typeface="Google Sans Flex"/>
                <a:cs typeface="Google Sans Flex"/>
                <a:sym typeface="Google Sans Flex"/>
              </a:rPr>
              <a:t>Sudarsan N</a:t>
            </a: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  <a:r>
              <a:rPr lang="en-GB" sz="1800">
                <a:latin typeface="Google Sans Flex Medium"/>
                <a:ea typeface="Google Sans Flex"/>
                <a:cs typeface="Google Sans Flex"/>
                <a:sym typeface="Google Sans Flex"/>
              </a:rPr>
              <a:t>Retail &amp; Commerce: trusted, legal breeder-to-buyer pet commerce in India (BreederNear AI)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20040" y="1042415"/>
            <a:ext cx="8503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i="0">
                <a:solidFill>
                  <a:srgbClr val="C0261C"/>
                </a:solidFill>
                <a:latin typeface="Google Sans Flex SemiBold"/>
              </a:rPr>
              <a:t>“The breeder is 50 metres away. The customer never finds them.”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20040" y="148132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29768" y="1517904"/>
            <a:ext cx="8284464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i="0">
                <a:solidFill>
                  <a:srgbClr val="9A5700"/>
                </a:solidFill>
                <a:latin typeface="Google Sans Flex SemiBold"/>
              </a:rPr>
              <a:t>Why we are building this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"/>
              </a:rPr>
              <a:t>Our founder Sudarsan N spent five years as a bird breeder, pet-shop owner and broker in Coimbatore. He started with a ₹750 setup and earned over ₹4 lakh while knowing only about 100 people. Every week he watched buyers walk past a breeder on their own street into a shop, pay more for a weaker bird, or lose money to a stranger in a WhatsApp group.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0040" y="2286000"/>
            <a:ext cx="2712720" cy="1874519"/>
          </a:xfrm>
          <a:prstGeom prst="roundRect">
            <a:avLst>
              <a:gd name="adj" fmla="val 3902"/>
            </a:avLst>
          </a:prstGeom>
          <a:solidFill>
            <a:srgbClr val="FB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411479" y="2359152"/>
            <a:ext cx="2529840" cy="17647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i="0">
                <a:solidFill>
                  <a:srgbClr val="C0261C"/>
                </a:solidFill>
                <a:latin typeface="Google Sans Flex SemiBold"/>
              </a:rPr>
              <a:t>Buyers lose money and trust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60" i="0">
                <a:solidFill>
                  <a:srgbClr val="1D1D1F"/>
                </a:solidFill>
                <a:latin typeface="Google Sans Flex"/>
              </a:rPr>
              <a:t>Can’t find the breeder next door, so they pay shop prices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60" i="0">
                <a:solidFill>
                  <a:srgbClr val="1D1D1F"/>
                </a:solidFill>
                <a:latin typeface="Google Sans Flex"/>
              </a:rPr>
              <a:t>Can’t tell a real seller from a scam: “full advance, courier only”, stolen photos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60" i="0">
                <a:solidFill>
                  <a:srgbClr val="1D1D1F"/>
                </a:solidFill>
                <a:latin typeface="Google Sans Flex"/>
              </a:rPr>
              <a:t>Don’t know which birds are protected or that dog breeders must register⁵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60" i="0">
                <a:solidFill>
                  <a:srgbClr val="1D1D1F"/>
                </a:solidFill>
                <a:latin typeface="Google Sans Flex"/>
              </a:rPr>
              <a:t>Alone after buying: wrong cage, wrong food, late to the vet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15640" y="2286000"/>
            <a:ext cx="2712720" cy="1874519"/>
          </a:xfrm>
          <a:prstGeom prst="roundRect">
            <a:avLst>
              <a:gd name="adj" fmla="val 3902"/>
            </a:avLst>
          </a:prstGeom>
          <a:solidFill>
            <a:srgbClr val="FB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307080" y="2359152"/>
            <a:ext cx="2529840" cy="17647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i="0">
                <a:solidFill>
                  <a:srgbClr val="C0261C"/>
                </a:solidFill>
                <a:latin typeface="Google Sans Flex SemiBold"/>
              </a:rPr>
              <a:t>Breeders lose time and reach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60" i="0">
                <a:solidFill>
                  <a:srgbClr val="1D1D1F"/>
                </a:solidFill>
                <a:latin typeface="Google Sans Flex"/>
              </a:rPr>
              <a:t>Sell only inside their own small circle and district groups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60" i="0">
                <a:solidFill>
                  <a:srgbClr val="1D1D1F"/>
                </a:solidFill>
                <a:latin typeface="Google Sans Flex"/>
              </a:rPr>
              <a:t>Hours of calls every day, the same 20 questions, the same post retyped in every group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60" i="0">
                <a:solidFill>
                  <a:srgbClr val="1D1D1F"/>
                </a:solidFill>
                <a:latin typeface="Google Sans Flex"/>
              </a:rPr>
              <a:t>Good breeders look exactly like bad ones: no way to prove it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11240" y="2286000"/>
            <a:ext cx="2712720" cy="1874519"/>
          </a:xfrm>
          <a:prstGeom prst="roundRect">
            <a:avLst>
              <a:gd name="adj" fmla="val 3902"/>
            </a:avLst>
          </a:prstGeom>
          <a:solidFill>
            <a:srgbClr val="FB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202680" y="2359152"/>
            <a:ext cx="2529840" cy="176479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i="0">
                <a:solidFill>
                  <a:srgbClr val="C0261C"/>
                </a:solidFill>
                <a:latin typeface="Google Sans Flex SemiBold"/>
              </a:rPr>
              <a:t>Animals and the law lose most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60" i="0">
                <a:solidFill>
                  <a:srgbClr val="1D1D1F"/>
                </a:solidFill>
                <a:latin typeface="Google Sans Flex"/>
              </a:rPr>
              <a:t>300+ of India’s ~1,200 bird species are found in illegal trade³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60" i="0">
                <a:solidFill>
                  <a:srgbClr val="1D1D1F"/>
                </a:solidFill>
                <a:latin typeface="Google Sans Flex"/>
              </a:rPr>
              <a:t>Munias are dyed to disguise them⁴; dyed chicks were still on sale in an unlicensed Bengaluru shop in June 2026⁶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60" i="0">
                <a:solidFill>
                  <a:srgbClr val="1D1D1F"/>
                </a:solidFill>
                <a:latin typeface="Google Sans Flex"/>
              </a:rPr>
              <a:t>Sick animals are sold because nobody checks before the sale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0040" y="4233672"/>
            <a:ext cx="8503920" cy="411480"/>
          </a:xfrm>
          <a:prstGeom prst="roundRect">
            <a:avLst>
              <a:gd name="adj" fmla="val 17777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429768" y="4233672"/>
            <a:ext cx="8284464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19" i="0">
                <a:solidFill>
                  <a:srgbClr val="FFFFFF"/>
                </a:solidFill>
                <a:latin typeface="Google Sans Flex SemiBold"/>
              </a:rPr>
              <a:t>Still unsolved in 2026: </a:t>
            </a:r>
            <a:r>
              <a:rPr sz="1019" i="0">
                <a:solidFill>
                  <a:srgbClr val="FFFFFF"/>
                </a:solidFill>
                <a:latin typeface="Google Sans Flex"/>
              </a:rPr>
              <a:t>OLX stopped live-animal listings², big pet platforms sell food and accessories, so India’s ~39 million-pet market¹ still buys animals through WhatsApp, Facebook and Instagram groups with no checks at all.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650" i="0">
                <a:solidFill>
                  <a:srgbClr val="5F5F64"/>
                </a:solidFill>
                <a:latin typeface="Google Sans Flex"/>
              </a:rPr>
              <a:t>Founder figures are his own experience · ¹ Euromonitor 2025 · ² OLX India: items not allowed · ³ WWF-India / TRAFFIC · ⁴ Deccan Herald, Aug 2023 · ⁵ PCA (Dog Breeding and Marketing) Rules 2017 · ⁶ PETA India, 25 Jun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20040" y="1161288"/>
            <a:ext cx="2712720" cy="3520440"/>
          </a:xfrm>
          <a:prstGeom prst="roundRect">
            <a:avLst>
              <a:gd name="adj" fmla="val 2696"/>
            </a:avLst>
          </a:prstGeom>
          <a:solidFill>
            <a:srgbClr val="E4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411479" y="1234440"/>
            <a:ext cx="2529840" cy="34107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i="0">
                <a:solidFill>
                  <a:srgbClr val="1F5FA8"/>
                </a:solidFill>
                <a:latin typeface="Google Sans Flex SemiBold"/>
              </a:rPr>
              <a:t>How is it different?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WhatsApp / Facebook groups: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reach, but no checks, no records, no recourse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Classifieds (OLX):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stopped live-animal listings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Pet super-apps: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food, accessories and vets, not the animal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Kennel websites: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one seller vouching for itself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No platform we found checks every listing for wildlife law, registration, scam prices and reused photos before it goes live, and then stays with the buyer after the sale.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15640" y="1161288"/>
            <a:ext cx="2712720" cy="3520440"/>
          </a:xfrm>
          <a:prstGeom prst="roundRect">
            <a:avLst>
              <a:gd name="adj" fmla="val 2696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3307080" y="1234440"/>
            <a:ext cx="2529840" cy="34107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i="0">
                <a:solidFill>
                  <a:srgbClr val="1F6E43"/>
                </a:solidFill>
                <a:latin typeface="Google Sans Flex SemiBold"/>
              </a:rPr>
              <a:t>How does it solve the problem?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Invisible breeders →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listed in a minute from photos and a Tamil message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Scams →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price, wording and reused-photo checks; outside posts checked too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Illegal birds →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blocked in code from the photo alone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Unproven breeders →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Verified badge: phone, facility photos, registration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Lost hours →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AI drafts replies; visits booked in the app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Alone after buying →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starter kit, care plan, daily log, vet urgency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11240" y="1161288"/>
            <a:ext cx="2712720" cy="3520440"/>
          </a:xfrm>
          <a:prstGeom prst="roundRect">
            <a:avLst>
              <a:gd name="adj" fmla="val 2696"/>
            </a:avLst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6202680" y="1234440"/>
            <a:ext cx="2529840" cy="34107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i="0">
                <a:solidFill>
                  <a:srgbClr val="9A5700"/>
                </a:solidFill>
                <a:latin typeface="Google Sans Flex SemiBold"/>
              </a:rPr>
              <a:t>USP</a:t>
            </a:r>
          </a:p>
          <a:p>
            <a:pPr algn="l">
              <a:spcAft>
                <a:spcPts val="300"/>
              </a:spcAft>
            </a:pPr>
            <a:r>
              <a:rPr sz="1040" i="0">
                <a:solidFill>
                  <a:srgbClr val="1D1D1F"/>
                </a:solidFill>
                <a:latin typeface="Google Sans Flex SemiBold"/>
              </a:rPr>
              <a:t>Trust built in, not bolted on.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Rules in code decide; Gemini reads and explains. A prompt injection still ends in CAUTION (eval E12).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Protected species blocked from the photo alone: 8/8 in testing, 0/37 false alarms.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Works where the trade already happens: Tamil and English messages, posts from groups.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Founder–market fit: designed from five years inside this exact trade.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20040" y="1115568"/>
            <a:ext cx="4114800" cy="2697480"/>
          </a:xfrm>
          <a:prstGeom prst="roundRect">
            <a:avLst>
              <a:gd name="adj" fmla="val 2711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411479" y="1188720"/>
            <a:ext cx="3931920" cy="2587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i="0">
                <a:solidFill>
                  <a:srgbClr val="1F6E43"/>
                </a:solidFill>
                <a:latin typeface="Google Sans Flex SemiBold"/>
              </a:rPr>
              <a:t>For buyers (customer app)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Pets near me with a match % for your home, trusted first, fair-price bar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Listing page: trust checks, health notes, questions to ask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AI-drafted first message; scam warnings on replies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Book a visit; “I bought this pet” after it (paid in person)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My pets: daily log with AI feedback, growth, health calendar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Symptom checker: how urgently to see a vet (never medicines)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“Is this post safe?”, starter kit, Local Breeders directory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709159" y="1115568"/>
            <a:ext cx="4114800" cy="2697480"/>
          </a:xfrm>
          <a:prstGeom prst="roundRect">
            <a:avLst>
              <a:gd name="adj" fmla="val 2711"/>
            </a:avLst>
          </a:prstGeom>
          <a:solidFill>
            <a:srgbClr val="E4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4800599" y="1188720"/>
            <a:ext cx="3931920" cy="25877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i="0">
                <a:solidFill>
                  <a:srgbClr val="1F5FA8"/>
                </a:solidFill>
                <a:latin typeface="Google Sans Flex SemiBold"/>
              </a:rPr>
              <a:t>For sellers (seller app)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“Fill with AI”: photos + a Tamil/English message become a listing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Publish with trust check: TRUSTED, CAUTION or BLOCKED, with reasons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Dashboard charts: views, enquiries, visits, sales, funnel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Verified breeder badge: phone code, facility photos read by Gemini, dog-breeder certificate (no ID documents)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Visit requests to confirm; AI-drafted replies to enquiries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19" i="0">
                <a:solidFill>
                  <a:srgbClr val="1D1D1F"/>
                </a:solidFill>
                <a:latin typeface="Google Sans Flex"/>
              </a:rPr>
              <a:t>Vaccination card read into the trust check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20040" y="3904487"/>
            <a:ext cx="8503920" cy="914400"/>
          </a:xfrm>
          <a:prstGeom prst="roundRect">
            <a:avLst>
              <a:gd name="adj" fmla="val 8000"/>
            </a:avLst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411479" y="3977639"/>
            <a:ext cx="8321040" cy="8046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i="0">
                <a:solidFill>
                  <a:srgbClr val="1D1D1F"/>
                </a:solidFill>
                <a:latin typeface="Google Sans Flex SemiBold"/>
              </a:rPr>
              <a:t>Everywhere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D1D1F"/>
                </a:solidFill>
                <a:latin typeface="Google Sans Flex SemiBold"/>
              </a:rPr>
              <a:t>Seven Gemini agents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 in English or Tamil use the same tools as the screens.  </a:t>
            </a:r>
            <a:r>
              <a:rPr sz="1000" i="0">
                <a:solidFill>
                  <a:srgbClr val="1D1D1F"/>
                </a:solidFill>
                <a:latin typeface="Google Sans Flex SemiBold"/>
              </a:rPr>
              <a:t>Sign-in: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 password, one-time code or Google (Firebase Authentication).  </a:t>
            </a:r>
            <a:r>
              <a:rPr sz="1000" i="0">
                <a:solidFill>
                  <a:srgbClr val="1D1D1F"/>
                </a:solidFill>
                <a:latin typeface="Google Sans Flex SemiBold"/>
              </a:rPr>
              <a:t>Safety: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 roles checked in the API and the AI tools, rate limits, every AI reply checked for medicine doses.  </a:t>
            </a:r>
            <a:r>
              <a:rPr sz="1000" i="0">
                <a:solidFill>
                  <a:srgbClr val="1D1D1F"/>
                </a:solidFill>
                <a:latin typeface="Google Sans Flex SemiBold"/>
              </a:rPr>
              <a:t>Accessible: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 WCAG 2.2 AA, phone to desktop.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0040" y="109728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F5FA8"/>
                </a:solidFill>
                <a:latin typeface="Google Sans Flex SemiBold"/>
              </a:rPr>
              <a:t>SELLER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20040" y="134416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E4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356615" y="134416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Photos + message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Tamil or English, as in WhatsApp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801368" y="1673352"/>
            <a:ext cx="265176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2066544" y="134416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E4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2103120" y="134416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Gemini fills the form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multimodal, JSON schema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3547872" y="1673352"/>
            <a:ext cx="265176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3813048" y="134416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E4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3849624" y="134416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Seller checks it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+ optional vaccination card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5294376" y="1673352"/>
            <a:ext cx="265176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5559552" y="134416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E4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5596128" y="134416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Trust screening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Gemini vision + rules in code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7040880" y="1673352"/>
            <a:ext cx="265176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7306056" y="1298448"/>
            <a:ext cx="1481328" cy="329184"/>
          </a:xfrm>
          <a:prstGeom prst="roundRect">
            <a:avLst>
              <a:gd name="adj" fmla="val 19444"/>
            </a:avLst>
          </a:prstGeom>
          <a:solidFill>
            <a:srgbClr val="FB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342631" y="1298448"/>
            <a:ext cx="140817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i="0">
                <a:solidFill>
                  <a:srgbClr val="C0261C"/>
                </a:solidFill>
                <a:latin typeface="Google Sans Flex SemiBold"/>
              </a:rPr>
              <a:t>BLOCKED</a:t>
            </a:r>
          </a:p>
          <a:p>
            <a:pPr algn="ctr">
              <a:spcAft>
                <a:spcPts val="0"/>
              </a:spcAft>
            </a:pPr>
            <a:r>
              <a:rPr sz="700" i="0">
                <a:solidFill>
                  <a:srgbClr val="5F5F64"/>
                </a:solidFill>
                <a:latin typeface="Google Sans Flex"/>
              </a:rPr>
              <a:t>never shown to buyers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306056" y="1719072"/>
            <a:ext cx="1481328" cy="329184"/>
          </a:xfrm>
          <a:prstGeom prst="roundRect">
            <a:avLst>
              <a:gd name="adj" fmla="val 19444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7342631" y="1719072"/>
            <a:ext cx="140817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i="0">
                <a:solidFill>
                  <a:srgbClr val="1F6E43"/>
                </a:solidFill>
                <a:latin typeface="Google Sans Flex SemiBold"/>
              </a:rPr>
              <a:t>TRUSTED / CAUTION</a:t>
            </a:r>
          </a:p>
          <a:p>
            <a:pPr algn="ctr">
              <a:spcAft>
                <a:spcPts val="0"/>
              </a:spcAft>
            </a:pPr>
            <a:r>
              <a:rPr sz="700" i="0">
                <a:solidFill>
                  <a:srgbClr val="5F5F64"/>
                </a:solidFill>
                <a:latin typeface="Google Sans Flex"/>
              </a:rPr>
              <a:t>published with reasons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20040" y="2194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F6E43"/>
                </a:solidFill>
                <a:latin typeface="Google Sans Flex SemiBold"/>
              </a:rPr>
              <a:t>BUYER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20040" y="244144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356615" y="244144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Pets with match %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rules score your home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1801368" y="2770632"/>
            <a:ext cx="265176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2066544" y="244144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2103120" y="244144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Listing + trust card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reasons, fair price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3547872" y="2770632"/>
            <a:ext cx="265176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>
            <a:off x="3813048" y="244144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3849624" y="244144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Message the breeder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AI draft, scam shield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5294376" y="2770632"/>
            <a:ext cx="265176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5559552" y="244144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5596128" y="244144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Book a visit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seller confirms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7040880" y="2770632"/>
            <a:ext cx="265176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ounded Rectangle 125"/>
          <p:cNvSpPr/>
          <p:nvPr/>
        </p:nvSpPr>
        <p:spPr>
          <a:xfrm>
            <a:off x="7306056" y="244144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7342631" y="244144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See it, pay in person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“I bought this pet”</a:t>
            </a:r>
          </a:p>
        </p:txBody>
      </p:sp>
      <p:cxnSp>
        <p:nvCxnSpPr>
          <p:cNvPr id="128" name="Connector 127"/>
          <p:cNvCxnSpPr/>
          <p:nvPr/>
        </p:nvCxnSpPr>
        <p:spPr>
          <a:xfrm flipH="1">
            <a:off x="2807208" y="2048256"/>
            <a:ext cx="5239512" cy="393192"/>
          </a:xfrm>
          <a:prstGeom prst="line">
            <a:avLst/>
          </a:prstGeom>
          <a:ln w="15875">
            <a:solidFill>
              <a:srgbClr val="1F6E4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4878324" y="2061972"/>
            <a:ext cx="109728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i="0">
                <a:solidFill>
                  <a:srgbClr val="5F5F64"/>
                </a:solidFill>
                <a:latin typeface="Google Sans Flex"/>
              </a:rPr>
              <a:t>published listings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306056" y="344728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7342631" y="344728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My pets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daily log, growth, calendar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559552" y="344728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5596128" y="344728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Symptom checker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urgency + vet, never doses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8046720" y="3099815"/>
            <a:ext cx="0" cy="347473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H="1">
            <a:off x="7040880" y="3776472"/>
            <a:ext cx="265176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ounded Rectangle 135"/>
          <p:cNvSpPr/>
          <p:nvPr/>
        </p:nvSpPr>
        <p:spPr>
          <a:xfrm>
            <a:off x="320040" y="344728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356615" y="344728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Post in a WhatsApp group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066544" y="344728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2103120" y="344728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“Is this post safe?”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nothing is stored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813048" y="3447288"/>
            <a:ext cx="1481328" cy="658368"/>
          </a:xfrm>
          <a:prstGeom prst="roundRect">
            <a:avLst>
              <a:gd name="adj" fmla="val 9722"/>
            </a:avLst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3849624" y="3447288"/>
            <a:ext cx="1408176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9A5700"/>
                </a:solidFill>
                <a:latin typeface="Google Sans Flex SemiBold"/>
              </a:rPr>
              <a:t>CAUTION + questions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never pay before visiting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1801368" y="3776472"/>
            <a:ext cx="265176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3547872" y="3776472"/>
            <a:ext cx="265176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320040" y="4645152"/>
            <a:ext cx="8503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850" i="0">
                <a:solidFill>
                  <a:srgbClr val="5F5F64"/>
                </a:solidFill>
                <a:latin typeface="Google Sans Flex"/>
              </a:rPr>
              <a:t>Every step works by tapping, or by asking BreederNear AI in chat: the same tools, the same checks. Sellers also earn a Verified breeder badge.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975" y="1115568"/>
            <a:ext cx="1501330" cy="3246120"/>
          </a:xfrm>
          <a:prstGeom prst="rect">
            <a:avLst/>
          </a:prstGeom>
          <a:ln w="9525">
            <a:solidFill>
              <a:srgbClr val="D6D6D2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172815" y="4398264"/>
            <a:ext cx="177565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i="0">
                <a:solidFill>
                  <a:srgbClr val="5F5F64"/>
                </a:solidFill>
                <a:latin typeface="Google Sans Flex"/>
              </a:rPr>
              <a:t>Sign in or one-tap demo</a:t>
            </a:r>
          </a:p>
        </p:txBody>
      </p:sp>
      <p:pic>
        <p:nvPicPr>
          <p:cNvPr id="106" name="Picture 10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5991" y="1115568"/>
            <a:ext cx="1501330" cy="3246120"/>
          </a:xfrm>
          <a:prstGeom prst="rect">
            <a:avLst/>
          </a:prstGeom>
          <a:ln w="9525">
            <a:solidFill>
              <a:srgbClr val="D6D6D2"/>
            </a:solidFill>
          </a:ln>
        </p:spPr>
      </p:pic>
      <p:sp>
        <p:nvSpPr>
          <p:cNvPr id="107" name="TextBox 106"/>
          <p:cNvSpPr txBox="1"/>
          <p:nvPr/>
        </p:nvSpPr>
        <p:spPr>
          <a:xfrm>
            <a:off x="1928831" y="4398264"/>
            <a:ext cx="177565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i="0">
                <a:solidFill>
                  <a:srgbClr val="5F5F64"/>
                </a:solidFill>
                <a:latin typeface="Google Sans Flex"/>
              </a:rPr>
              <a:t>Pets with match %</a:t>
            </a:r>
          </a:p>
        </p:txBody>
      </p:sp>
      <p:pic>
        <p:nvPicPr>
          <p:cNvPr id="108" name="Picture 10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2007" y="1115568"/>
            <a:ext cx="1501330" cy="3246120"/>
          </a:xfrm>
          <a:prstGeom prst="rect">
            <a:avLst/>
          </a:prstGeom>
          <a:ln w="9525">
            <a:solidFill>
              <a:srgbClr val="D6D6D2"/>
            </a:solidFill>
          </a:ln>
        </p:spPr>
      </p:pic>
      <p:sp>
        <p:nvSpPr>
          <p:cNvPr id="109" name="TextBox 108"/>
          <p:cNvSpPr txBox="1"/>
          <p:nvPr/>
        </p:nvSpPr>
        <p:spPr>
          <a:xfrm>
            <a:off x="3684847" y="4398264"/>
            <a:ext cx="177565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i="0">
                <a:solidFill>
                  <a:srgbClr val="5F5F64"/>
                </a:solidFill>
                <a:latin typeface="Google Sans Flex"/>
              </a:rPr>
              <a:t>Listing + trust checks</a:t>
            </a:r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8024" y="1115568"/>
            <a:ext cx="1501330" cy="3246120"/>
          </a:xfrm>
          <a:prstGeom prst="rect">
            <a:avLst/>
          </a:prstGeom>
          <a:ln w="9525">
            <a:solidFill>
              <a:srgbClr val="D6D6D2"/>
            </a:solidFill>
          </a:ln>
        </p:spPr>
      </p:pic>
      <p:sp>
        <p:nvSpPr>
          <p:cNvPr id="111" name="TextBox 110"/>
          <p:cNvSpPr txBox="1"/>
          <p:nvPr/>
        </p:nvSpPr>
        <p:spPr>
          <a:xfrm>
            <a:off x="5440864" y="4398264"/>
            <a:ext cx="177565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i="0">
                <a:solidFill>
                  <a:srgbClr val="5F5F64"/>
                </a:solidFill>
                <a:latin typeface="Google Sans Flex"/>
              </a:rPr>
              <a:t>Visits, then “I bought it”</a:t>
            </a:r>
          </a:p>
        </p:txBody>
      </p:sp>
      <p:pic>
        <p:nvPicPr>
          <p:cNvPr id="112" name="Picture 111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040" y="1115568"/>
            <a:ext cx="1501330" cy="3246120"/>
          </a:xfrm>
          <a:prstGeom prst="rect">
            <a:avLst/>
          </a:prstGeom>
          <a:ln w="9525">
            <a:solidFill>
              <a:srgbClr val="D6D6D2"/>
            </a:solidFill>
          </a:ln>
        </p:spPr>
      </p:pic>
      <p:sp>
        <p:nvSpPr>
          <p:cNvPr id="113" name="TextBox 112"/>
          <p:cNvSpPr txBox="1"/>
          <p:nvPr/>
        </p:nvSpPr>
        <p:spPr>
          <a:xfrm>
            <a:off x="7196880" y="4398264"/>
            <a:ext cx="177565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i="0">
                <a:solidFill>
                  <a:srgbClr val="5F5F64"/>
                </a:solidFill>
                <a:latin typeface="Google Sans Flex"/>
              </a:rPr>
              <a:t>My pets companion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20040" y="1188720"/>
            <a:ext cx="1234440" cy="530352"/>
          </a:xfrm>
          <a:prstGeom prst="roundRect">
            <a:avLst>
              <a:gd name="adj" fmla="val 12068"/>
            </a:avLst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356615" y="1188720"/>
            <a:ext cx="1161288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Buyers &amp; sellers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phone or laptop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20040" y="1965960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356615" y="1965960"/>
            <a:ext cx="1161288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9A5700"/>
                </a:solidFill>
                <a:latin typeface="Google Sans Flex SemiBold"/>
              </a:rPr>
              <a:t>Firebase Hosting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web app on Google’s CDN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20040" y="2834640"/>
            <a:ext cx="1234440" cy="658368"/>
          </a:xfrm>
          <a:prstGeom prst="roundRect">
            <a:avLst>
              <a:gd name="adj" fmla="val 9722"/>
            </a:avLst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356615" y="2834640"/>
            <a:ext cx="1161288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50" i="0">
                <a:solidFill>
                  <a:srgbClr val="9A5700"/>
                </a:solidFill>
                <a:latin typeface="Google Sans Flex SemiBold"/>
              </a:rPr>
              <a:t>Firebase Auth</a:t>
            </a:r>
          </a:p>
          <a:p>
            <a:pPr algn="ctr">
              <a:spcAft>
                <a:spcPts val="0"/>
              </a:spcAft>
            </a:pPr>
            <a:r>
              <a:rPr sz="800" i="0">
                <a:solidFill>
                  <a:srgbClr val="5F5F64"/>
                </a:solidFill>
                <a:latin typeface="Google Sans Flex"/>
              </a:rPr>
              <a:t>Google sign-in (ID token)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932688" y="1719072"/>
            <a:ext cx="0" cy="246888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8"/>
          <p:cNvSpPr/>
          <p:nvPr/>
        </p:nvSpPr>
        <p:spPr>
          <a:xfrm>
            <a:off x="1920240" y="1143000"/>
            <a:ext cx="4206240" cy="3474720"/>
          </a:xfrm>
          <a:prstGeom prst="roundRect">
            <a:avLst>
              <a:gd name="adj" fmla="val 2631"/>
            </a:avLst>
          </a:prstGeom>
          <a:solidFill>
            <a:srgbClr val="FFFFFF"/>
          </a:solidFill>
          <a:ln w="127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2029968" y="1188720"/>
            <a:ext cx="42062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1F5FA8"/>
                </a:solidFill>
                <a:latin typeface="Google Sans Flex SemiBold"/>
              </a:rPr>
              <a:t>Cloud Run (asia-south1)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057400" y="1472184"/>
            <a:ext cx="3931920" cy="365760"/>
          </a:xfrm>
          <a:prstGeom prst="roundRect">
            <a:avLst>
              <a:gd name="adj" fmla="val 17500"/>
            </a:avLst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2093976" y="1472184"/>
            <a:ext cx="3858768" cy="365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i="0">
                <a:solidFill>
                  <a:srgbClr val="1D1D1F"/>
                </a:solidFill>
                <a:latin typeface="Google Sans Flex SemiBold"/>
              </a:rPr>
              <a:t>Gatekeeper · login · rate limits · Gemini retries</a:t>
            </a:r>
          </a:p>
          <a:p>
            <a:pPr algn="ctr">
              <a:spcAft>
                <a:spcPts val="0"/>
              </a:spcAft>
            </a:pPr>
            <a:r>
              <a:rPr sz="700" i="0">
                <a:solidFill>
                  <a:srgbClr val="5F5F64"/>
                </a:solidFill>
                <a:latin typeface="Google Sans Flex"/>
              </a:rPr>
              <a:t>only the routes the app uses; roles from the server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057400" y="1947672"/>
            <a:ext cx="1188720" cy="731520"/>
          </a:xfrm>
          <a:prstGeom prst="roundRect">
            <a:avLst>
              <a:gd name="adj" fmla="val 8750"/>
            </a:avLst>
          </a:prstGeom>
          <a:solidFill>
            <a:srgbClr val="E4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2093976" y="1947672"/>
            <a:ext cx="1115568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i="0">
                <a:solidFill>
                  <a:srgbClr val="1D1D1F"/>
                </a:solidFill>
                <a:latin typeface="Google Sans Flex SemiBold"/>
              </a:rPr>
              <a:t>FastAPI /api</a:t>
            </a:r>
          </a:p>
          <a:p>
            <a:pPr algn="ctr">
              <a:spcAft>
                <a:spcPts val="0"/>
              </a:spcAft>
            </a:pPr>
            <a:r>
              <a:rPr sz="750" i="0">
                <a:solidFill>
                  <a:srgbClr val="5F5F64"/>
                </a:solidFill>
                <a:latin typeface="Google Sans Flex"/>
              </a:rPr>
              <a:t>tap screens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3383280" y="1947672"/>
            <a:ext cx="2606039" cy="1481328"/>
          </a:xfrm>
          <a:prstGeom prst="roundRect">
            <a:avLst>
              <a:gd name="adj" fmla="val 4320"/>
            </a:avLst>
          </a:prstGeom>
          <a:solidFill>
            <a:srgbClr val="E4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3429000" y="1965960"/>
            <a:ext cx="2514599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i="0">
                <a:solidFill>
                  <a:srgbClr val="1F5FA8"/>
                </a:solidFill>
                <a:latin typeface="Google Sans Flex SemiBold"/>
              </a:rPr>
              <a:t>Google ADK: 7 agents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142232" y="2185415"/>
            <a:ext cx="1188720" cy="25603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4178808" y="2185415"/>
            <a:ext cx="111556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800" i="0">
                <a:solidFill>
                  <a:srgbClr val="1D1D1F"/>
                </a:solidFill>
                <a:latin typeface="Google Sans Flex SemiBold"/>
              </a:rPr>
              <a:t>Concierge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456432" y="2532888"/>
            <a:ext cx="804672" cy="246888"/>
          </a:xfrm>
          <a:prstGeom prst="roundRect">
            <a:avLst>
              <a:gd name="adj" fmla="val 259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3493008" y="2532888"/>
            <a:ext cx="7315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i="0">
                <a:solidFill>
                  <a:srgbClr val="1D1D1F"/>
                </a:solidFill>
                <a:latin typeface="Google Sans Flex SemiBold"/>
              </a:rPr>
              <a:t>Listing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325112" y="2532888"/>
            <a:ext cx="804672" cy="246888"/>
          </a:xfrm>
          <a:prstGeom prst="roundRect">
            <a:avLst>
              <a:gd name="adj" fmla="val 259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4361688" y="2532888"/>
            <a:ext cx="7315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i="0">
                <a:solidFill>
                  <a:srgbClr val="1D1D1F"/>
                </a:solidFill>
                <a:latin typeface="Google Sans Flex SemiBold"/>
              </a:rPr>
              <a:t>Trust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193792" y="2532888"/>
            <a:ext cx="804672" cy="246888"/>
          </a:xfrm>
          <a:prstGeom prst="roundRect">
            <a:avLst>
              <a:gd name="adj" fmla="val 259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5230368" y="2532888"/>
            <a:ext cx="7315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i="0">
                <a:solidFill>
                  <a:srgbClr val="1D1D1F"/>
                </a:solidFill>
                <a:latin typeface="Google Sans Flex SemiBold"/>
              </a:rPr>
              <a:t>Match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456432" y="2834640"/>
            <a:ext cx="804672" cy="246888"/>
          </a:xfrm>
          <a:prstGeom prst="roundRect">
            <a:avLst>
              <a:gd name="adj" fmla="val 259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3493008" y="2834640"/>
            <a:ext cx="7315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i="0">
                <a:solidFill>
                  <a:srgbClr val="1D1D1F"/>
                </a:solidFill>
                <a:latin typeface="Google Sans Flex SemiBold"/>
              </a:rPr>
              <a:t>Care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325112" y="2834640"/>
            <a:ext cx="804672" cy="246888"/>
          </a:xfrm>
          <a:prstGeom prst="roundRect">
            <a:avLst>
              <a:gd name="adj" fmla="val 259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4361688" y="2834640"/>
            <a:ext cx="7315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i="0">
                <a:solidFill>
                  <a:srgbClr val="1D1D1F"/>
                </a:solidFill>
                <a:latin typeface="Google Sans Flex SemiBold"/>
              </a:rPr>
              <a:t>Verify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193792" y="2834640"/>
            <a:ext cx="804672" cy="246888"/>
          </a:xfrm>
          <a:prstGeom prst="roundRect">
            <a:avLst>
              <a:gd name="adj" fmla="val 259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5230368" y="2834640"/>
            <a:ext cx="731520" cy="2468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750" i="0">
                <a:solidFill>
                  <a:srgbClr val="1D1D1F"/>
                </a:solidFill>
                <a:latin typeface="Google Sans Flex SemiBold"/>
              </a:rPr>
              <a:t>Companion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29000" y="3127248"/>
            <a:ext cx="2514599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700" i="0">
                <a:solidFill>
                  <a:srgbClr val="5F5F64"/>
                </a:solidFill>
                <a:latin typeface="Google Sans Flex"/>
              </a:rPr>
              <a:t>callbacks: context · reply guard · tool log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057400" y="3538728"/>
            <a:ext cx="3931920" cy="960120"/>
          </a:xfrm>
          <a:prstGeom prst="roundRect">
            <a:avLst>
              <a:gd name="adj" fmla="val 6666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2093976" y="3538728"/>
            <a:ext cx="3858768" cy="9601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i="0">
                <a:solidFill>
                  <a:srgbClr val="1F6E43"/>
                </a:solidFill>
                <a:latin typeface="Google Sans Flex SemiBold"/>
              </a:rPr>
              <a:t>breedernear_core: one tool layer</a:t>
            </a:r>
          </a:p>
          <a:p>
            <a:pPr algn="ctr">
              <a:spcAft>
                <a:spcPts val="0"/>
              </a:spcAft>
            </a:pPr>
            <a:r>
              <a:rPr sz="750" i="0">
                <a:solidFill>
                  <a:srgbClr val="5F5F64"/>
                </a:solidFill>
                <a:latin typeface="Google Sans Flex"/>
              </a:rPr>
              <a:t>listings · trust score · verification · match % · visits · care companion
analytics · accounts · safety rules in code · reused-photo hashing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2651760" y="2679191"/>
            <a:ext cx="0" cy="859537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4754880" y="3429000"/>
            <a:ext cx="0" cy="109728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554480" y="2286000"/>
            <a:ext cx="365760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554480" y="3154680"/>
            <a:ext cx="365760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6492240" y="1143000"/>
            <a:ext cx="2331720" cy="603504"/>
          </a:xfrm>
          <a:prstGeom prst="roundRect">
            <a:avLst>
              <a:gd name="adj" fmla="val 10606"/>
            </a:avLst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6528816" y="1143000"/>
            <a:ext cx="2258568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i="0">
                <a:solidFill>
                  <a:srgbClr val="9A5700"/>
                </a:solidFill>
                <a:latin typeface="Google Sans Flex SemiBold"/>
              </a:rPr>
              <a:t>Gemini 3.8 Flash</a:t>
            </a:r>
          </a:p>
          <a:p>
            <a:pPr algn="ctr">
              <a:spcAft>
                <a:spcPts val="0"/>
              </a:spcAft>
            </a:pPr>
            <a:r>
              <a:rPr sz="750" i="0">
                <a:solidFill>
                  <a:srgbClr val="5F5F64"/>
                </a:solidFill>
                <a:latin typeface="Google Sans Flex"/>
              </a:rPr>
              <a:t>Vertex AI: agents, photos, certificates,
listings, care, scam scan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6126479" y="1444752"/>
            <a:ext cx="365761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6492240" y="1847088"/>
            <a:ext cx="2331720" cy="603504"/>
          </a:xfrm>
          <a:prstGeom prst="roundRect">
            <a:avLst>
              <a:gd name="adj" fmla="val 10606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6528816" y="1847088"/>
            <a:ext cx="2258568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i="0">
                <a:solidFill>
                  <a:srgbClr val="1F6E43"/>
                </a:solidFill>
                <a:latin typeface="Google Sans Flex SemiBold"/>
              </a:rPr>
              <a:t>Firestore</a:t>
            </a:r>
          </a:p>
          <a:p>
            <a:pPr algn="ctr">
              <a:spcAft>
                <a:spcPts val="0"/>
              </a:spcAft>
            </a:pPr>
            <a:r>
              <a:rPr sz="750" i="0">
                <a:solidFill>
                  <a:srgbClr val="5F5F64"/>
                </a:solidFill>
                <a:latin typeface="Google Sans Flex"/>
              </a:rPr>
              <a:t>accounts, listings, visits, pets,
verification, analytics events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6126479" y="2148840"/>
            <a:ext cx="365761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ounded Rectangle 153"/>
          <p:cNvSpPr/>
          <p:nvPr/>
        </p:nvSpPr>
        <p:spPr>
          <a:xfrm>
            <a:off x="6492240" y="2551176"/>
            <a:ext cx="2331720" cy="603504"/>
          </a:xfrm>
          <a:prstGeom prst="roundRect">
            <a:avLst>
              <a:gd name="adj" fmla="val 10606"/>
            </a:avLst>
          </a:prstGeom>
          <a:solidFill>
            <a:srgbClr val="E4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6528816" y="2551176"/>
            <a:ext cx="2258568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i="0">
                <a:solidFill>
                  <a:srgbClr val="1F5FA8"/>
                </a:solidFill>
                <a:latin typeface="Google Sans Flex SemiBold"/>
              </a:rPr>
              <a:t>Cloud Storage</a:t>
            </a:r>
          </a:p>
          <a:p>
            <a:pPr algn="ctr">
              <a:spcAft>
                <a:spcPts val="0"/>
              </a:spcAft>
            </a:pPr>
            <a:r>
              <a:rPr sz="750" i="0">
                <a:solidFill>
                  <a:srgbClr val="5F5F64"/>
                </a:solidFill>
                <a:latin typeface="Google Sans Flex"/>
              </a:rPr>
              <a:t>private uploads, deleted once read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6126479" y="2852928"/>
            <a:ext cx="365761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/>
          <p:cNvSpPr/>
          <p:nvPr/>
        </p:nvSpPr>
        <p:spPr>
          <a:xfrm>
            <a:off x="6492240" y="3255264"/>
            <a:ext cx="2331720" cy="603504"/>
          </a:xfrm>
          <a:prstGeom prst="roundRect">
            <a:avLst>
              <a:gd name="adj" fmla="val 10606"/>
            </a:avLst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6528816" y="3255264"/>
            <a:ext cx="2258568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i="0">
                <a:solidFill>
                  <a:srgbClr val="1D1D1F"/>
                </a:solidFill>
                <a:latin typeface="Google Sans Flex SemiBold"/>
              </a:rPr>
              <a:t>Cloud Logging</a:t>
            </a:r>
          </a:p>
          <a:p>
            <a:pPr algn="ctr">
              <a:spcAft>
                <a:spcPts val="0"/>
              </a:spcAft>
            </a:pPr>
            <a:r>
              <a:rPr sz="750" i="0">
                <a:solidFill>
                  <a:srgbClr val="5F5F64"/>
                </a:solidFill>
                <a:latin typeface="Google Sans Flex"/>
              </a:rPr>
              <a:t>one JSON line per tool call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126479" y="3557016"/>
            <a:ext cx="365761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ounded Rectangle 159"/>
          <p:cNvSpPr/>
          <p:nvPr/>
        </p:nvSpPr>
        <p:spPr>
          <a:xfrm>
            <a:off x="6492240" y="3959352"/>
            <a:ext cx="2331720" cy="603504"/>
          </a:xfrm>
          <a:prstGeom prst="roundRect">
            <a:avLst>
              <a:gd name="adj" fmla="val 10606"/>
            </a:avLst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6528816" y="3959352"/>
            <a:ext cx="2258568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100"/>
              </a:spcAft>
            </a:pPr>
            <a:r>
              <a:rPr sz="900" i="0">
                <a:solidFill>
                  <a:srgbClr val="1D1D1F"/>
                </a:solidFill>
                <a:latin typeface="Google Sans Flex SemiBold"/>
              </a:rPr>
              <a:t>Cloud Build + Artifact Registry</a:t>
            </a:r>
          </a:p>
          <a:p>
            <a:pPr algn="ctr">
              <a:spcAft>
                <a:spcPts val="0"/>
              </a:spcAft>
            </a:pPr>
            <a:r>
              <a:rPr sz="750" i="0">
                <a:solidFill>
                  <a:srgbClr val="5F5F64"/>
                </a:solidFill>
                <a:latin typeface="Google Sans Flex"/>
              </a:rPr>
              <a:t>deploy from source; GitHub Actions CI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6126479" y="4261104"/>
            <a:ext cx="365761" cy="0"/>
          </a:xfrm>
          <a:prstGeom prst="line">
            <a:avLst/>
          </a:prstGeom>
          <a:ln w="15875">
            <a:solidFill>
              <a:srgbClr val="5F5F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320040" y="1115568"/>
          <a:ext cx="57150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3931920"/>
              </a:tblGrid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Google Sans Flex SemiBold"/>
                        </a:rPr>
                        <a:t>Google technology</a:t>
                      </a:r>
                    </a:p>
                  </a:txBody>
                  <a:tcPr marL="54864" marR="54864" marT="22860" marB="22860" anchor="ctr"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FFFFFF"/>
                          </a:solidFill>
                          <a:latin typeface="Google Sans Flex SemiBold"/>
                        </a:rPr>
                        <a:t>How BreederNear AI uses it</a:t>
                      </a:r>
                    </a:p>
                  </a:txBody>
                  <a:tcPr marL="54864" marR="54864" marT="22860" marB="22860" anchor="ctr">
                    <a:solidFill>
                      <a:srgbClr val="1D1D1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Gemini 3.8 Flash (Vertex AI)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Seven ADK agents; listing extraction from photos + Tamil/English; photo, facility and certificate reading; care plans, daily-log feedback, symptom urgency; message drafts and scam scan. JSON schemas.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Google ADK (Python)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Concierge + listing, trust, match, care, verification and companion agents; tools; callbacks on every agent; streamed replies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Cloud Run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API and agents; login gatekeeper; rate limits; Gemini retries with backoff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Firebase Hosting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The web app on Google’s CDN; calls Cloud Run directly (CORS) so AI replies stream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Firebase Authentication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Continue with Google; the server verifies the Firebase ID token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Firestore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Accounts, listings, enquiries, visits, sales, pets and logs, verification, analytics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Cloud Storage, Cloud Build, Artifact Registry, Cloud Logging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Private uploads; deploy from source; tool-call logs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gemini-3.1-flash-image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1D1D1F"/>
                          </a:solidFill>
                          <a:latin typeface="Google Sans Flex"/>
                        </a:rPr>
                        <a:t>Illustrative photos for the fictional sample listings (labelled in the app)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</a:tbl>
          </a:graphicData>
        </a:graphic>
      </p:graphicFrame>
      <p:sp>
        <p:nvSpPr>
          <p:cNvPr id="121" name="Rounded Rectangle 120"/>
          <p:cNvSpPr/>
          <p:nvPr/>
        </p:nvSpPr>
        <p:spPr>
          <a:xfrm>
            <a:off x="6217920" y="1115568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6309359" y="1188720"/>
            <a:ext cx="2423160" cy="27706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i="0">
                <a:solidFill>
                  <a:srgbClr val="1D1D1F"/>
                </a:solidFill>
                <a:latin typeface="Google Sans Flex SemiBold"/>
              </a:rPr>
              <a:t>Also used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19" i="0">
                <a:solidFill>
                  <a:srgbClr val="1D1D1F"/>
                </a:solidFill>
                <a:latin typeface="Google Sans Flex"/>
              </a:rPr>
              <a:t>Python 3.12, FastAPI, Pydantic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19" i="0">
                <a:solidFill>
                  <a:srgbClr val="1D1D1F"/>
                </a:solidFill>
                <a:latin typeface="Google Sans Flex"/>
              </a:rPr>
              <a:t>imagehash: reused-photo detection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19" i="0">
                <a:solidFill>
                  <a:srgbClr val="1D1D1F"/>
                </a:solidFill>
                <a:latin typeface="Google Sans Flex"/>
              </a:rPr>
              <a:t>Plain HTML, CSS, JavaScript and SVG charts: no build step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19" i="0">
                <a:solidFill>
                  <a:srgbClr val="1D1D1F"/>
                </a:solidFill>
                <a:latin typeface="Google Sans Flex"/>
              </a:rPr>
              <a:t>pytest, Playwright + axe-core, GitHub Actions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19" i="0">
                <a:solidFill>
                  <a:srgbClr val="1D1D1F"/>
                </a:solidFill>
                <a:latin typeface="Google Sans Flex"/>
              </a:rPr>
              <a:t>Firebase CLI (deploy only)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975" y="1115568"/>
            <a:ext cx="1501330" cy="3246120"/>
          </a:xfrm>
          <a:prstGeom prst="rect">
            <a:avLst/>
          </a:prstGeom>
          <a:ln w="9525">
            <a:solidFill>
              <a:srgbClr val="D6D6D2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172815" y="4398264"/>
            <a:ext cx="177565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i="0">
                <a:solidFill>
                  <a:srgbClr val="5F5F64"/>
                </a:solidFill>
                <a:latin typeface="Google Sans Flex"/>
              </a:rPr>
              <a:t>Seller analytics</a:t>
            </a:r>
          </a:p>
        </p:txBody>
      </p:sp>
      <p:pic>
        <p:nvPicPr>
          <p:cNvPr id="138" name="Picture 13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5991" y="1115568"/>
            <a:ext cx="1501330" cy="3246120"/>
          </a:xfrm>
          <a:prstGeom prst="rect">
            <a:avLst/>
          </a:prstGeom>
          <a:ln w="9525">
            <a:solidFill>
              <a:srgbClr val="D6D6D2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1928831" y="4398264"/>
            <a:ext cx="177565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i="0">
                <a:solidFill>
                  <a:srgbClr val="5F5F64"/>
                </a:solidFill>
                <a:latin typeface="Google Sans Flex"/>
              </a:rPr>
              <a:t>Verified breeder</a:t>
            </a:r>
          </a:p>
        </p:txBody>
      </p:sp>
      <p:pic>
        <p:nvPicPr>
          <p:cNvPr id="140" name="Picture 139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2007" y="1115568"/>
            <a:ext cx="1501330" cy="3246120"/>
          </a:xfrm>
          <a:prstGeom prst="rect">
            <a:avLst/>
          </a:prstGeom>
          <a:ln w="9525">
            <a:solidFill>
              <a:srgbClr val="D6D6D2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3684847" y="4398264"/>
            <a:ext cx="177565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i="0">
                <a:solidFill>
                  <a:srgbClr val="5F5F64"/>
                </a:solidFill>
                <a:latin typeface="Google Sans Flex"/>
              </a:rPr>
              <a:t>Protected species: blocked</a:t>
            </a:r>
          </a:p>
        </p:txBody>
      </p:sp>
      <p:pic>
        <p:nvPicPr>
          <p:cNvPr id="142" name="Picture 141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8024" y="1115568"/>
            <a:ext cx="1501330" cy="3246120"/>
          </a:xfrm>
          <a:prstGeom prst="rect">
            <a:avLst/>
          </a:prstGeom>
          <a:ln w="9525">
            <a:solidFill>
              <a:srgbClr val="D6D6D2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5440864" y="4398264"/>
            <a:ext cx="177565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i="0">
                <a:solidFill>
                  <a:srgbClr val="5F5F64"/>
                </a:solidFill>
                <a:latin typeface="Google Sans Flex"/>
              </a:rPr>
              <a:t>“Is this post safe?”</a:t>
            </a:r>
          </a:p>
        </p:txBody>
      </p:sp>
      <p:pic>
        <p:nvPicPr>
          <p:cNvPr id="144" name="Picture 143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040" y="1115568"/>
            <a:ext cx="1501330" cy="3246120"/>
          </a:xfrm>
          <a:prstGeom prst="rect">
            <a:avLst/>
          </a:prstGeom>
          <a:ln w="9525">
            <a:solidFill>
              <a:srgbClr val="D6D6D2"/>
            </a:solidFill>
          </a:ln>
        </p:spPr>
      </p:pic>
      <p:sp>
        <p:nvSpPr>
          <p:cNvPr id="145" name="TextBox 144"/>
          <p:cNvSpPr txBox="1"/>
          <p:nvPr/>
        </p:nvSpPr>
        <p:spPr>
          <a:xfrm>
            <a:off x="7196880" y="4398264"/>
            <a:ext cx="177565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300"/>
              </a:spcAft>
            </a:pPr>
            <a:r>
              <a:rPr sz="850" i="0">
                <a:solidFill>
                  <a:srgbClr val="5F5F64"/>
                </a:solidFill>
                <a:latin typeface="Google Sans Flex"/>
              </a:rPr>
              <a:t>Symptom urgency, no doses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320040" y="1115568"/>
          <a:ext cx="5257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10972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FFFFFF"/>
                          </a:solidFill>
                          <a:latin typeface="Google Sans Flex SemiBold"/>
                        </a:rPr>
                        <a:t>Quality (real Gemini, 10–11 Oct 2026)</a:t>
                      </a:r>
                    </a:p>
                  </a:txBody>
                  <a:tcPr marL="54864" marR="54864" marT="22860" marB="22860" anchor="ctr"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FFFFFF"/>
                          </a:solidFill>
                          <a:latin typeface="Google Sans Flex SemiBold"/>
                        </a:rPr>
                        <a:t>Result</a:t>
                      </a:r>
                    </a:p>
                  </a:txBody>
                  <a:tcPr marL="54864" marR="54864" marT="22860" marB="22860" anchor="ctr">
                    <a:solidFill>
                      <a:srgbClr val="1D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Agent evals: 22 cases × 3 runs (listing, Tamil, blocking, scams, reused photos, prompt injection, no medicine advice, roles, verification, visits, care companion)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F6E43"/>
                          </a:solidFill>
                          <a:latin typeface="Google Sans Flex SemiBold"/>
                        </a:rPr>
                        <a:t>66/66 passed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Protected species blocked from the photo alone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F6E43"/>
                          </a:solidFill>
                          <a:latin typeface="Google Sans Flex SemiBold"/>
                        </a:rPr>
                        <a:t>8/8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Ordinary pets wrongly flagged as protected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F6E43"/>
                          </a:solidFill>
                          <a:latin typeface="Google Sans Flex SemiBold"/>
                        </a:rPr>
                        <a:t>0/37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All photo checks: species, dye, blur, no animal, watermark, screenshot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 SemiBold"/>
                        </a:rPr>
                        <a:t>202/202*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Accessibility: axe-core, WCAG 2.2 AA, light + dark, 320–1280 px, all screens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F6E43"/>
                          </a:solidFill>
                          <a:latin typeface="Google Sans Flex SemiBold"/>
                        </a:rPr>
                        <a:t>0 problems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Unit tests in CI · live smoke test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 SemiBold"/>
                        </a:rPr>
                        <a:t>335 · 17/17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Table 144"/>
          <p:cNvGraphicFramePr>
            <a:graphicFrameLocks noGrp="1"/>
          </p:cNvGraphicFramePr>
          <p:nvPr/>
        </p:nvGraphicFramePr>
        <p:xfrm>
          <a:off x="5760720" y="1115568"/>
          <a:ext cx="3063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FFFFFF"/>
                          </a:solidFill>
                          <a:latin typeface="Google Sans Flex SemiBold"/>
                        </a:rPr>
                        <a:t>Speed (live)</a:t>
                      </a:r>
                    </a:p>
                  </a:txBody>
                  <a:tcPr marL="54864" marR="54864" marT="22860" marB="22860" anchor="ctr"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FFFFFF"/>
                          </a:solidFill>
                          <a:latin typeface="Google Sans Flex SemiBold"/>
                        </a:rPr>
                        <a:t>Time</a:t>
                      </a:r>
                    </a:p>
                  </a:txBody>
                  <a:tcPr marL="54864" marR="54864" marT="22860" marB="22860" anchor="ctr">
                    <a:solidFill>
                      <a:srgbClr val="1D1D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List a pet: upload, AI fill, publish with trust check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17–27 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Check a pasted post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5–7 s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Web app load (Firebase CDN)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≈ 0.7 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Gemini: read a certificate · scan a message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≈ 4.5 s · ≈ 2 s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Gemini: symptom urgency · daily-log feedback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19">
                          <a:solidFill>
                            <a:srgbClr val="1D1D1F"/>
                          </a:solidFill>
                          <a:latin typeface="Google Sans Flex"/>
                        </a:rPr>
                        <a:t>≈ 8 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TextBox 145"/>
          <p:cNvSpPr txBox="1"/>
          <p:nvPr/>
        </p:nvSpPr>
        <p:spPr>
          <a:xfrm>
            <a:off x="5760720" y="3447287"/>
            <a:ext cx="306324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i="0">
                <a:solidFill>
                  <a:srgbClr val="1D1D1F"/>
                </a:solidFill>
                <a:latin typeface="Google Sans Flex SemiBold"/>
              </a:rPr>
              <a:t>How we test</a:t>
            </a:r>
          </a:p>
          <a:p>
            <a:pPr algn="l">
              <a:spcAft>
                <a:spcPts val="300"/>
              </a:spcAft>
            </a:pPr>
            <a:r>
              <a:rPr sz="850" i="0">
                <a:solidFill>
                  <a:srgbClr val="1D1D1F"/>
                </a:solidFill>
                <a:latin typeface="Google Sans Flex"/>
              </a:rPr>
              <a:t>Gemini isn’t deterministic, so each eval runs three times and we report the count. Decisions (trust, verification, match %, urgency floor) are made by tested code.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650" i="0">
                <a:solidFill>
                  <a:srgbClr val="5F5F64"/>
                </a:solidFill>
                <a:latin typeface="Google Sans Flex"/>
              </a:rPr>
              <a:t>*Test photos are AI-generated and the screening prompt was tuned on them (first run 196/202), so treat this as an upper bound · Reproduce: scripts/run_evals.sh 3 · scripts/vision_accuracy.py · pytest -m ui tests/ui · evals/RESULTS.md, evals/VISION_RESULTS.md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20040" y="1115568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E4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411479" y="1188720"/>
            <a:ext cx="3931920" cy="31821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i="0">
                <a:solidFill>
                  <a:srgbClr val="1F5FA8"/>
                </a:solidFill>
                <a:latin typeface="Google Sans Flex SemiBold"/>
              </a:rPr>
              <a:t>Roadmap (not in the prototype)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Pilot with real breeders in Coimbatore and Tiruppur, from the founder’s network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Real SMS and email delivery for one-time codes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List by sending a WhatsApp message (WhatsApp Business Platform)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Live State Animal Welfare Board and PARIVESH registry checks; the platform registrations India’s pet-trade rules require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Chat history in Agent Engine sessions, so Cloud Run can scale past one instance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Breeder ratings from buyers’ care-companion outcomes; vet and pet-pharmacy partners; more languages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709159" y="1115568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4800599" y="1188720"/>
            <a:ext cx="3931920" cy="31821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i="0">
                <a:solidFill>
                  <a:srgbClr val="1F6E43"/>
                </a:solidFill>
                <a:latin typeface="Google Sans Flex SemiBold"/>
              </a:rPr>
              <a:t>Responsible by design (already built)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Protected species blocked in code, whatever the model says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No medicine names or doses: checked on every AI reply, even while streaming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Verification without ID documents or selfies; photos deleted once read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Codes shown on screen only open new or demo accounts, never someone else’s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Symptom checker: red flags are always an emergency; never a diagnosis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40" i="0">
                <a:solidFill>
                  <a:srgbClr val="1D1D1F"/>
                </a:solidFill>
                <a:latin typeface="Google Sans Flex"/>
              </a:rPr>
              <a:t>Synthetic sample data, clearly labelled; simulated registry numbers start with SIM-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sz="1100">
                <a:solidFill>
                  <a:srgbClr val="1F6E43"/>
                </a:solidFill>
                <a:latin typeface="Google Sans Flex"/>
                <a:ea typeface="Google Sans Flex Medium"/>
                <a:cs typeface="Google Sans Flex Medium"/>
                <a:sym typeface="Google Sans Flex Medium"/>
              </a:rPr>
              <a:t>: https://github.com/sudarsan-22/breedernear-ai</a:t>
            </a: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sz="1100">
                <a:solidFill>
                  <a:srgbClr val="1F6E43"/>
                </a:solidFill>
                <a:latin typeface="Google Sans Flex"/>
                <a:ea typeface="Google Sans Flex Medium"/>
                <a:cs typeface="Google Sans Flex Medium"/>
                <a:sym typeface="Google Sans Flex Medium"/>
              </a:rPr>
              <a:t>: [add the YouTube link on 17 Oct]</a:t>
            </a: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  <a:r>
              <a:rPr lang="en-GB" sz="1100">
                <a:solidFill>
                  <a:srgbClr val="1F6E43"/>
                </a:solidFill>
                <a:latin typeface="Google Sans Flex"/>
                <a:ea typeface="Google Sans Flex Medium"/>
                <a:cs typeface="Google Sans Flex Medium"/>
                <a:sym typeface="Google Sans Flex Medium"/>
              </a:rPr>
              <a:t>: https://breedernear-ai-2026.web.app  (API: https://breedernear-655711985039.asia-south1.run.app)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320040" y="2148840"/>
            <a:ext cx="8503920" cy="960120"/>
          </a:xfrm>
          <a:prstGeom prst="roundRect">
            <a:avLst>
              <a:gd name="adj" fmla="val 7619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411479" y="2221992"/>
            <a:ext cx="8321040" cy="8503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i="0">
                <a:solidFill>
                  <a:srgbClr val="1F6E43"/>
                </a:solidFill>
                <a:latin typeface="Google Sans Flex SemiBold"/>
              </a:rPr>
              <a:t>Try it in 2 minutes: demo accounts with preloaded data</a:t>
            </a:r>
          </a:p>
          <a:p>
            <a:pPr algn="l">
              <a:spcAft>
                <a:spcPts val="300"/>
              </a:spcAft>
            </a:pPr>
            <a:r>
              <a:rPr sz="1100" i="0">
                <a:solidFill>
                  <a:srgbClr val="1D1D1F"/>
                </a:solidFill>
                <a:latin typeface="Google Sans Flex SemiBold"/>
              </a:rPr>
              <a:t>Customer: </a:t>
            </a:r>
            <a:r>
              <a:rPr sz="1100" i="0">
                <a:solidFill>
                  <a:srgbClr val="1D1D1F"/>
                </a:solidFill>
                <a:latin typeface="Google Sans Flex"/>
              </a:rPr>
              <a:t>priya.customer@example.com</a:t>
            </a:r>
            <a:r>
              <a:rPr sz="1100" i="0">
                <a:solidFill>
                  <a:srgbClr val="1D1D1F"/>
                </a:solidFill>
                <a:latin typeface="Google Sans Flex SemiBold"/>
              </a:rPr>
              <a:t>    Seller: </a:t>
            </a:r>
            <a:r>
              <a:rPr sz="1100" i="0">
                <a:solidFill>
                  <a:srgbClr val="1D1D1F"/>
                </a:solidFill>
                <a:latin typeface="Google Sans Flex"/>
              </a:rPr>
              <a:t>karthik.seller@example.com</a:t>
            </a:r>
            <a:r>
              <a:rPr sz="1100" i="0">
                <a:solidFill>
                  <a:srgbClr val="1D1D1F"/>
                </a:solidFill>
                <a:latin typeface="Google Sans Flex SemiBold"/>
              </a:rPr>
              <a:t>    Password: </a:t>
            </a:r>
            <a:r>
              <a:rPr sz="1100" i="0">
                <a:solidFill>
                  <a:srgbClr val="1D1D1F"/>
                </a:solidFill>
                <a:latin typeface="Google Sans Flex"/>
              </a:rPr>
              <a:t>demo12345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5F5F64"/>
                </a:solidFill>
                <a:latin typeface="Google Sans Flex"/>
              </a:rPr>
              <a:t>Or tap “Demo customer · Priya” / “Demo seller · Karthik” on the login screen. The README has a step-by-step walkthrough.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Business case, scale and go-to-market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7" name="Rounded Rectangle 166"/>
          <p:cNvSpPr/>
          <p:nvPr/>
        </p:nvSpPr>
        <p:spPr>
          <a:xfrm>
            <a:off x="320040" y="1097280"/>
            <a:ext cx="8503920" cy="384048"/>
          </a:xfrm>
          <a:prstGeom prst="roundRect">
            <a:avLst>
              <a:gd name="adj" fmla="val 19047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429768" y="1097280"/>
            <a:ext cx="8284464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i="0">
                <a:solidFill>
                  <a:srgbClr val="1F6E43"/>
                </a:solidFill>
                <a:latin typeface="Google Sans Flex SemiBold"/>
              </a:rPr>
              <a:t>Market: </a:t>
            </a:r>
            <a:r>
              <a:rPr sz="1050" i="0">
                <a:solidFill>
                  <a:srgbClr val="1D1D1F"/>
                </a:solidFill>
                <a:latin typeface="Google Sans Flex"/>
              </a:rPr>
              <a:t>India’s pet care products market is USD 9.2 B in 2026, heading to USD 13.9 B by 2034⁷, with about 39 million pets¹. The animals themselves are still sold with no checks: that is our wedge.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20040" y="1591056"/>
            <a:ext cx="2712720" cy="2212848"/>
          </a:xfrm>
          <a:prstGeom prst="roundRect">
            <a:avLst>
              <a:gd name="adj" fmla="val 3305"/>
            </a:avLst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411479" y="1664208"/>
            <a:ext cx="252984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i="0">
                <a:solidFill>
                  <a:srgbClr val="1F6E43"/>
                </a:solidFill>
                <a:latin typeface="Google Sans Flex SemiBold"/>
              </a:rPr>
              <a:t>Revenue (planned)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Verified-breeder subscription: badge, dashboard insights, more listings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Featured listings per district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Starter-kit and accessory commerce after every sale (cart already built)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B2B trust-screening API for classifieds and pet shops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3215640" y="1591056"/>
            <a:ext cx="2712720" cy="2212848"/>
          </a:xfrm>
          <a:prstGeom prst="roundRect">
            <a:avLst>
              <a:gd name="adj" fmla="val 3305"/>
            </a:avLst>
          </a:prstGeom>
          <a:solidFill>
            <a:srgbClr val="E4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3307080" y="1664208"/>
            <a:ext cx="252984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i="0">
                <a:solidFill>
                  <a:srgbClr val="1F5FA8"/>
                </a:solidFill>
                <a:latin typeface="Google Sans Flex SemiBold"/>
              </a:rPr>
              <a:t>Built to scale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Trust costs ≈ ₹1.3 per listing (measured) against pets priced ₹400–₹25,000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Serverless Cloud Run + Firestore: near zero when idle, scales out per request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Districts, species, fair prices and protected lists are data, not code: a new district is a data file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Gemini already reads Tamil, English and mixed messages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111240" y="1591056"/>
            <a:ext cx="2712720" cy="2212848"/>
          </a:xfrm>
          <a:prstGeom prst="roundRect">
            <a:avLst>
              <a:gd name="adj" fmla="val 3305"/>
            </a:avLst>
          </a:prstGeom>
          <a:solidFill>
            <a:srgbClr val="FB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6202680" y="1664208"/>
            <a:ext cx="252984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i="0">
                <a:solidFill>
                  <a:srgbClr val="9A5700"/>
                </a:solidFill>
                <a:latin typeface="Google Sans Flex SemiBold"/>
              </a:rPr>
              <a:t>Go-to-market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1 · Pilot in Coimbatore and Tiruppur with the founder’s breeder network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2 · Tamil Nadu, district by district; list by sending a WhatsApp message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3 · Other states and languages; the trust API for other marketplaces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980" i="0">
                <a:solidFill>
                  <a:srgbClr val="1D1D1F"/>
                </a:solidFill>
                <a:latin typeface="Google Sans Flex"/>
              </a:rPr>
              <a:t>Buyers arrive through “Is this post safe?” links shared in the same groups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320040" y="3877056"/>
            <a:ext cx="8503920" cy="749808"/>
          </a:xfrm>
          <a:prstGeom prst="roundRect">
            <a:avLst>
              <a:gd name="adj" fmla="val 9756"/>
            </a:avLst>
          </a:prstGeom>
          <a:solidFill>
            <a:srgbClr val="F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429768" y="3895344"/>
            <a:ext cx="8284464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1F6E43"/>
                </a:solidFill>
                <a:latin typeface="Google Sans Flex SemiBold"/>
              </a:rPr>
              <a:t>Growth loop: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verified breeders → trusted listings → more buyers → more sales and care data → sharper fair prices and trust scores → more breeders join.</a:t>
            </a:r>
          </a:p>
          <a:p>
            <a:pPr algn="l">
              <a:spcAft>
                <a:spcPts val="300"/>
              </a:spcAft>
            </a:pPr>
            <a:r>
              <a:rPr sz="1000" i="0">
                <a:solidFill>
                  <a:srgbClr val="1F6E43"/>
                </a:solidFill>
                <a:latin typeface="Google Sans Flex SemiBold"/>
              </a:rPr>
              <a:t>Impact we measure, live in the app: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listings checked before going live · protected animals stopped · scam warnings raised · verified breeders. Every warning can be shared back to the group it came from, and protected species come with a way to report them.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650" i="0">
                <a:solidFill>
                  <a:srgbClr val="5F5F64"/>
                </a:solidFill>
                <a:latin typeface="Google Sans Flex"/>
              </a:rPr>
              <a:t>Revenue lines and rollout are plans, not results · ¹ Euromonitor 2025 · ⁷ IMARC Group, India Pet Care Products Market (2026) · Cost: docs/submission/05-deck-sources.md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64" name="Google Shape;164;p27" title="Frame 144.png"/>
          <p:cNvPicPr preferRelativeResize="0"/>
          <p:nvPr/>
        </p:nvPicPr>
        <p:blipFill rotWithShape="1">
          <a:blip r:embed="rId2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From pain to product: the whole journey, end to end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67" name="Table 166"/>
          <p:cNvGraphicFramePr>
            <a:graphicFrameLocks noGrp="1"/>
          </p:cNvGraphicFramePr>
          <p:nvPr/>
        </p:nvGraphicFramePr>
        <p:xfrm>
          <a:off x="320040" y="1097280"/>
          <a:ext cx="8503920" cy="320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2331720"/>
                <a:gridCol w="3154680"/>
                <a:gridCol w="2331720"/>
              </a:tblGrid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FFFFFF"/>
                          </a:solidFill>
                          <a:latin typeface="Google Sans Flex SemiBold"/>
                        </a:rPr>
                        <a:t>Step</a:t>
                      </a:r>
                    </a:p>
                  </a:txBody>
                  <a:tcPr marL="54864" marR="54864" marT="22860" marB="22860" anchor="ctr"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FFFFFF"/>
                          </a:solidFill>
                          <a:latin typeface="Google Sans Flex SemiBold"/>
                        </a:rPr>
                        <a:t>Today, in groups and shops</a:t>
                      </a:r>
                    </a:p>
                  </a:txBody>
                  <a:tcPr marL="54864" marR="54864" marT="22860" marB="22860" anchor="ctr"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FFFFFF"/>
                          </a:solidFill>
                          <a:latin typeface="Google Sans Flex SemiBold"/>
                        </a:rPr>
                        <a:t>With BreederNear AI</a:t>
                      </a:r>
                    </a:p>
                  </a:txBody>
                  <a:tcPr marL="54864" marR="54864" marT="22860" marB="22860" anchor="ctr">
                    <a:solidFill>
                      <a:srgbClr val="1D1D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FFFFFF"/>
                          </a:solidFill>
                          <a:latin typeface="Google Sans Flex SemiBold"/>
                        </a:rPr>
                        <a:t>Built and measured</a:t>
                      </a:r>
                    </a:p>
                  </a:txBody>
                  <a:tcPr marL="54864" marR="54864" marT="22860" marB="22860" anchor="ctr">
                    <a:solidFill>
                      <a:srgbClr val="1D1D1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Find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Walk into the nearest shop; the breeder next door is invisible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Pets near you, trusted first, a match % for your home, a fair-price bar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Match % calculated in code; 16 breeders, 36 pets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List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Breeder retypes the same post in every group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Photos + a Tamil or English message become a full listing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17–27 s live: upload, AI fill, trust check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Trust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No checks: stolen photos, scam prices, protected birds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Every listing screened before it goes live; Verified breeder badge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F6E43"/>
                          </a:solidFill>
                          <a:latin typeface="Google Sans Flex SemiBold"/>
                        </a:rPr>
                        <a:t>8/8 protected species blocked, 0/37 false alarms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Check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Pay a stranger on social media in full, in advance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Paste any outside post: “Is this post safe?”; share the warning back to the group; report protected animals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5–7 s per post; nothing stored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Talk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Endless calls and the same answers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AI drafts the buyer’s first message and the breeder’s reply; scam shield on both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Scam scan on every enquiry and reply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Buy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“Courier only”, no handover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Book a visit, see the pet, pay in person, tap “I bought this pet”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No payments in the app, by design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After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New owner on their own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Starter kit sized for welfare, 14-day plan, daily log, growth, symptom urgency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F6E43"/>
                          </a:solidFill>
                          <a:latin typeface="Google Sans Flex SemiBold"/>
                        </a:rPr>
                        <a:t>Never a medicine or dose (evals E11, E19)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Grow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Breeder has no data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Dashboard: views, enquiries, visits and sales, week on week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>
                          <a:solidFill>
                            <a:srgbClr val="1D1D1F"/>
                          </a:solidFill>
                          <a:latin typeface="Google Sans Flex"/>
                        </a:rPr>
                        <a:t>8-week charts and trend cards</a:t>
                      </a:r>
                    </a:p>
                  </a:txBody>
                  <a:tcPr marL="54864" marR="54864" marT="22860" marB="22860" anchor="ctr">
                    <a:solidFill>
                      <a:srgbClr val="F3F3F0"/>
                    </a:solidFill>
                  </a:tcPr>
                </a:tc>
              </a:tr>
            </a:tbl>
          </a:graphicData>
        </a:graphic>
      </p:graphicFrame>
      <p:sp>
        <p:nvSpPr>
          <p:cNvPr id="168" name="TextBox 167"/>
          <p:cNvSpPr txBox="1"/>
          <p:nvPr/>
        </p:nvSpPr>
        <p:spPr>
          <a:xfrm>
            <a:off x="320040" y="4407408"/>
            <a:ext cx="8503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1F6E43"/>
                </a:solidFill>
                <a:latin typeface="Google Sans Flex SemiBold"/>
              </a:rPr>
              <a:t>One tool layer, two ways in: </a:t>
            </a:r>
            <a:r>
              <a:rPr sz="1000" i="0">
                <a:solidFill>
                  <a:srgbClr val="1D1D1F"/>
                </a:solidFill>
                <a:latin typeface="Google Sans Flex"/>
              </a:rPr>
              <a:t>every step works by tapping or by asking seven Gemini agents in English or Tamil. Live now: 66/66 agent eval runs, 335 unit tests, 0 accessibility problems.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