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70" r:id="rId20"/>
    <p:sldId id="266" r:id="rId16"/>
    <p:sldId id="267" r:id="rId17"/>
    <p:sldId id="268" r:id="rId18"/>
    <p:sldId id="269" r:id="rId19"/>
    <p:sldId id="271" r:id="rId2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6.jpg"/><Relationship Id="rId6" Type="http://schemas.openxmlformats.org/officeDocument/2006/relationships/image" Target="../media/image7.jpg"/><Relationship Id="rId7" Type="http://schemas.openxmlformats.org/officeDocument/2006/relationships/image" Target="../media/image8.jpg"/><Relationship Id="rId8" Type="http://schemas.openxmlformats.org/officeDocument/2006/relationships/image" Target="../media/image9.jpg"/><Relationship Id="rId9" Type="http://schemas.openxmlformats.org/officeDocument/2006/relationships/image" Target="../media/image10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1.jpg"/><Relationship Id="rId6" Type="http://schemas.openxmlformats.org/officeDocument/2006/relationships/image" Target="../media/image12.jpg"/><Relationship Id="rId7" Type="http://schemas.openxmlformats.org/officeDocument/2006/relationships/image" Target="../media/image13.jpg"/><Relationship Id="rId8" Type="http://schemas.openxmlformats.org/officeDocument/2006/relationships/image" Target="../media/image14.jpg"/><Relationship Id="rId9" Type="http://schemas.openxmlformats.org/officeDocument/2006/relationships/image" Target="../media/image1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  <a:r>
              <a:rPr lang="en-GB" sz="1800">
                <a:latin typeface="Google Sans Flex Medium"/>
                <a:ea typeface="Google Sans Flex"/>
                <a:cs typeface="Google Sans Flex"/>
                <a:sym typeface="Google Sans Flex"/>
              </a:rPr>
              <a:t>BreederNear AI</a:t>
            </a: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  <a:r>
              <a:rPr lang="en-GB" sz="1800">
                <a:latin typeface="Google Sans Flex Medium"/>
                <a:ea typeface="Google Sans Flex"/>
                <a:cs typeface="Google Sans Flex"/>
                <a:sym typeface="Google Sans Flex"/>
              </a:rPr>
              <a:t>Sudarsan N</a:t>
            </a: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  <a:r>
              <a:rPr lang="en-GB" sz="1800">
                <a:latin typeface="Google Sans Flex Medium"/>
                <a:ea typeface="Google Sans Flex"/>
                <a:cs typeface="Google Sans Flex"/>
                <a:sym typeface="Google Sans Flex"/>
              </a:rPr>
              <a:t>Retail &amp; Commerce: trusted, legal breeder-to-buyer pet commerce in India (BreederNear AI)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320040" y="1069848"/>
            <a:ext cx="85039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i="0">
                <a:solidFill>
                  <a:srgbClr val="1F6E43"/>
                </a:solidFill>
                <a:latin typeface="Google Sans Flex SemiBold"/>
              </a:rPr>
              <a:t>BreederNear AI: </a:t>
            </a:r>
            <a:r>
              <a:rPr sz="1500" i="0">
                <a:solidFill>
                  <a:srgbClr val="1D1D1F"/>
                </a:solidFill>
                <a:latin typeface="Google Sans Flex SemiBold"/>
              </a:rPr>
              <a:t>find the trusted breeder next door.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20040" y="1536192"/>
            <a:ext cx="4160520" cy="3063240"/>
          </a:xfrm>
          <a:prstGeom prst="roundRect">
            <a:avLst>
              <a:gd name="adj" fmla="val 2388"/>
            </a:avLst>
          </a:prstGeom>
          <a:solidFill>
            <a:srgbClr val="FB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411479" y="1609344"/>
            <a:ext cx="3977639" cy="29535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C0261C"/>
                </a:solidFill>
                <a:latin typeface="Google Sans Flex SemiBold"/>
              </a:rPr>
              <a:t>The problem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80" i="0">
                <a:solidFill>
                  <a:srgbClr val="1D1D1F"/>
                </a:solidFill>
                <a:latin typeface="Google Sans Flex"/>
              </a:rPr>
              <a:t>India has about 39 million pets¹, but buying one is a gamble. OLX stopped live-animal listings², so the trade moved to WhatsApp and Facebook groups with no checks at all.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80" i="0">
                <a:solidFill>
                  <a:srgbClr val="1D1D1F"/>
                </a:solidFill>
                <a:latin typeface="Google Sans Flex"/>
              </a:rPr>
              <a:t>Buyers overpay in shops or lose money to “full advance, courier only” posts with stolen photos.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80" i="0">
                <a:solidFill>
                  <a:srgbClr val="1D1D1F"/>
                </a:solidFill>
                <a:latin typeface="Google Sans Flex"/>
              </a:rPr>
              <a:t>Protected native birds are still sold: 300+ of India’s ~1,200 bird species are found in illegal trade³, and munias are dyed to disguise them⁴.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80" i="0">
                <a:solidFill>
                  <a:srgbClr val="1D1D1F"/>
                </a:solidFill>
                <a:latin typeface="Google Sans Flex"/>
              </a:rPr>
              <a:t>Real local breeders, often a street away, are invisible and lose hours to manual selling.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663440" y="1536192"/>
            <a:ext cx="4160520" cy="3063240"/>
          </a:xfrm>
          <a:prstGeom prst="roundRect">
            <a:avLst>
              <a:gd name="adj" fmla="val 2388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4754879" y="1609344"/>
            <a:ext cx="3977639" cy="29535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1F6E43"/>
                </a:solidFill>
                <a:latin typeface="Google Sans Flex SemiBold"/>
              </a:rPr>
              <a:t>Our solution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80" i="0">
                <a:solidFill>
                  <a:srgbClr val="1D1D1F"/>
                </a:solidFill>
                <a:latin typeface="Google Sans Flex"/>
              </a:rPr>
              <a:t>A breeder-to-buyer pet marketplace where every listing is screened by Gemini and rules in code before any buyer sees it, and breeders can earn a Verified badge.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80" i="0">
                <a:solidFill>
                  <a:srgbClr val="1D1D1F"/>
                </a:solidFill>
                <a:latin typeface="Google Sans Flex"/>
              </a:rPr>
              <a:t>Sellers list from photos and a casual Tamil or English message in under a minute.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80" i="0">
                <a:solidFill>
                  <a:srgbClr val="1D1D1F"/>
                </a:solidFill>
                <a:latin typeface="Google Sans Flex"/>
              </a:rPr>
              <a:t>Buyers see a match % for their home, book a visit, pay in person, then get a care companion for the pet at home.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80" i="0">
                <a:solidFill>
                  <a:srgbClr val="1D1D1F"/>
                </a:solidFill>
                <a:latin typeface="Google Sans Flex"/>
              </a:rPr>
              <a:t>“Is this post safe?”: buyers can check any post they saw in a WhatsApp or Instagram group.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F6E43"/>
                </a:solidFill>
                <a:latin typeface="Google Sans Flex SemiBold"/>
              </a:rPr>
              <a:t>Built from our founder’s five years as a bird breeder and broker in Coimbatore.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20040" y="4681728"/>
            <a:ext cx="8503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650" i="0">
                <a:solidFill>
                  <a:srgbClr val="5F5F64"/>
                </a:solidFill>
                <a:latin typeface="Google Sans Flex"/>
              </a:rPr>
              <a:t>¹ Euromonitor, Pet Care in India (2025) · ² OLX India: items not allowed · ³ WWF-India / TRAFFIC · ⁴ Wildlife SOS, Delhi seizure report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320040" y="1161288"/>
            <a:ext cx="2712720" cy="3520440"/>
          </a:xfrm>
          <a:prstGeom prst="roundRect">
            <a:avLst>
              <a:gd name="adj" fmla="val 2696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411479" y="1234440"/>
            <a:ext cx="2529840" cy="34107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1F5FA8"/>
                </a:solidFill>
                <a:latin typeface="Google Sans Flex SemiBold"/>
              </a:rPr>
              <a:t>How is it different?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Classifieds such as OLX stopped live-animal listings; big pet platforms sell food and accessories.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A few kennel websites sell dogs, checking only themselves.</a:t>
            </a:r>
          </a:p>
          <a:p>
            <a:pPr algn="l">
              <a:spcAft>
                <a:spcPts val="300"/>
              </a:spcAft>
            </a:pPr>
            <a:r>
              <a:rPr sz="1040" i="0">
                <a:solidFill>
                  <a:srgbClr val="1D1D1F"/>
                </a:solidFill>
                <a:latin typeface="Google Sans Flex SemiBold"/>
              </a:rPr>
              <a:t>No platform we found checks every listing for wildlife law, registration, scam prices and reused photos before it goes live, or checks posts from outside groups.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215640" y="1161288"/>
            <a:ext cx="2712720" cy="3520440"/>
          </a:xfrm>
          <a:prstGeom prst="roundRect">
            <a:avLst>
              <a:gd name="adj" fmla="val 2696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TextBox 82"/>
          <p:cNvSpPr txBox="1"/>
          <p:nvPr/>
        </p:nvSpPr>
        <p:spPr>
          <a:xfrm>
            <a:off x="3307080" y="1234440"/>
            <a:ext cx="2529840" cy="34107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1F6E43"/>
                </a:solidFill>
                <a:latin typeface="Google Sans Flex SemiBold"/>
              </a:rPr>
              <a:t>How does it solve the problem?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Gemini turns photos and a messy message into a structured, fairly priced listing.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Trust is decided by transparent code: protected species blocked, dog registration checked, price and scam-language warnings, reused-photo detection.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Buyers see why: every badge lists its reasons and the questions to ask.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In-person handover; AI-drafted replies; starter kit and care plan.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111240" y="1161288"/>
            <a:ext cx="2712720" cy="3520440"/>
          </a:xfrm>
          <a:prstGeom prst="roundRect">
            <a:avLst>
              <a:gd name="adj" fmla="val 2696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6202680" y="1234440"/>
            <a:ext cx="2529840" cy="34107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9A5700"/>
                </a:solidFill>
                <a:latin typeface="Google Sans Flex SemiBold"/>
              </a:rPr>
              <a:t>USP</a:t>
            </a:r>
          </a:p>
          <a:p>
            <a:pPr algn="l">
              <a:spcAft>
                <a:spcPts val="300"/>
              </a:spcAft>
            </a:pPr>
            <a:r>
              <a:rPr sz="1040" i="0">
                <a:solidFill>
                  <a:srgbClr val="1D1D1F"/>
                </a:solidFill>
                <a:latin typeface="Google Sans Flex SemiBold"/>
              </a:rPr>
              <a:t>Trust built in, not bolted on.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Protected species blocked from the photo alone: 8/8 in testing, 0/37 false alarms.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The AI can’t override the rules: prompt injection still ends in CAUTION (eval E12).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Works where the trade happens: Tamil/English messages and outside posts.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One tool layer for tap screens and the AI chat.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320040" y="1115568"/>
            <a:ext cx="4114800" cy="2697480"/>
          </a:xfrm>
          <a:prstGeom prst="roundRect">
            <a:avLst>
              <a:gd name="adj" fmla="val 2711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411479" y="1188720"/>
            <a:ext cx="3931920" cy="25877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1F6E43"/>
                </a:solidFill>
                <a:latin typeface="Google Sans Flex SemiBold"/>
              </a:rPr>
              <a:t>For buyers (customer app)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Pets near me with a match % for your home, trusted first, fair-price bar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Listing page: trust checks, health notes, questions to ask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AI-drafted first message; scam warnings on replies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Book a visit; “I bought this pet” after it (paid in person)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My pets: daily log with AI feedback, growth, health calendar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Symptom checker: how urgently to see a vet (never medicines)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“Is this post safe?”, starter kit, Local Breeders directory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709159" y="1115568"/>
            <a:ext cx="4114800" cy="2697480"/>
          </a:xfrm>
          <a:prstGeom prst="roundRect">
            <a:avLst>
              <a:gd name="adj" fmla="val 2711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4800599" y="1188720"/>
            <a:ext cx="3931920" cy="25877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1F5FA8"/>
                </a:solidFill>
                <a:latin typeface="Google Sans Flex SemiBold"/>
              </a:rPr>
              <a:t>For sellers (seller app)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“Fill with AI”: photos + a Tamil/English message become a listing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Publish with trust check: TRUSTED, CAUTION or BLOCKED, with reasons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Dashboard charts: views, enquiries, visits, sales, funnel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Verified breeder badge: phone code, facility photos read by Gemini, dog-breeder certificate (no ID documents)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Visit requests to confirm; AI-drafted replies to enquiries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Vaccination card read into the trust check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20040" y="3904487"/>
            <a:ext cx="8503920" cy="914400"/>
          </a:xfrm>
          <a:prstGeom prst="roundRect">
            <a:avLst>
              <a:gd name="adj" fmla="val 8000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411479" y="3977639"/>
            <a:ext cx="8321040" cy="8046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i="0">
                <a:solidFill>
                  <a:srgbClr val="1D1D1F"/>
                </a:solidFill>
                <a:latin typeface="Google Sans Flex SemiBold"/>
              </a:rPr>
              <a:t>Everywhere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Seven Gemini agents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 in English or Tamil use the same tools as the screens.  </a:t>
            </a:r>
            <a:r>
              <a:rPr sz="1000" i="0">
                <a:solidFill>
                  <a:srgbClr val="1D1D1F"/>
                </a:solidFill>
                <a:latin typeface="Google Sans Flex SemiBold"/>
              </a:rPr>
              <a:t>Sign-in: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 password, one-time code or Google (Firebase Authentication).  </a:t>
            </a:r>
            <a:r>
              <a:rPr sz="1000" i="0">
                <a:solidFill>
                  <a:srgbClr val="1D1D1F"/>
                </a:solidFill>
                <a:latin typeface="Google Sans Flex SemiBold"/>
              </a:rPr>
              <a:t>Safety: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 roles checked in the API and the AI tools, rate limits, every AI reply checked for medicine doses.  </a:t>
            </a:r>
            <a:r>
              <a:rPr sz="1000" i="0">
                <a:solidFill>
                  <a:srgbClr val="1D1D1F"/>
                </a:solidFill>
                <a:latin typeface="Google Sans Flex SemiBold"/>
              </a:rPr>
              <a:t>Accessible: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 WCAG 2.2 AA, phone to desktop.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320040" y="109728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0">
                <a:solidFill>
                  <a:srgbClr val="1F5FA8"/>
                </a:solidFill>
                <a:latin typeface="Google Sans Flex SemiBold"/>
              </a:rPr>
              <a:t>SELLER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320040" y="134416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356615" y="134416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Photos + message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Tamil or English, as in WhatsApp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1801368" y="167335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ounded Rectangle 99"/>
          <p:cNvSpPr/>
          <p:nvPr/>
        </p:nvSpPr>
        <p:spPr>
          <a:xfrm>
            <a:off x="2066544" y="134416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TextBox 100"/>
          <p:cNvSpPr txBox="1"/>
          <p:nvPr/>
        </p:nvSpPr>
        <p:spPr>
          <a:xfrm>
            <a:off x="2103120" y="134416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Gemini fills the form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multimodal, JSON schema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3547872" y="167335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Rounded Rectangle 102"/>
          <p:cNvSpPr/>
          <p:nvPr/>
        </p:nvSpPr>
        <p:spPr>
          <a:xfrm>
            <a:off x="3813048" y="134416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3849624" y="134416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Seller checks it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+ optional vaccination card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5294376" y="167335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5559552" y="134416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TextBox 106"/>
          <p:cNvSpPr txBox="1"/>
          <p:nvPr/>
        </p:nvSpPr>
        <p:spPr>
          <a:xfrm>
            <a:off x="5596128" y="134416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Trust screening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Gemini vision + rules in code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7040880" y="167335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ounded Rectangle 108"/>
          <p:cNvSpPr/>
          <p:nvPr/>
        </p:nvSpPr>
        <p:spPr>
          <a:xfrm>
            <a:off x="7306056" y="1298448"/>
            <a:ext cx="1481328" cy="329184"/>
          </a:xfrm>
          <a:prstGeom prst="roundRect">
            <a:avLst>
              <a:gd name="adj" fmla="val 19444"/>
            </a:avLst>
          </a:prstGeom>
          <a:solidFill>
            <a:srgbClr val="FB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7342631" y="1298448"/>
            <a:ext cx="1408176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850" i="0">
                <a:solidFill>
                  <a:srgbClr val="C0261C"/>
                </a:solidFill>
                <a:latin typeface="Google Sans Flex SemiBold"/>
              </a:rPr>
              <a:t>BLOCKED</a:t>
            </a:r>
          </a:p>
          <a:p>
            <a:pPr algn="ctr">
              <a:spcAft>
                <a:spcPts val="0"/>
              </a:spcAft>
            </a:pPr>
            <a:r>
              <a:rPr sz="700" i="0">
                <a:solidFill>
                  <a:srgbClr val="5F5F64"/>
                </a:solidFill>
                <a:latin typeface="Google Sans Flex"/>
              </a:rPr>
              <a:t>never shown to buyers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7306056" y="1719072"/>
            <a:ext cx="1481328" cy="329184"/>
          </a:xfrm>
          <a:prstGeom prst="roundRect">
            <a:avLst>
              <a:gd name="adj" fmla="val 19444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TextBox 111"/>
          <p:cNvSpPr txBox="1"/>
          <p:nvPr/>
        </p:nvSpPr>
        <p:spPr>
          <a:xfrm>
            <a:off x="7342631" y="1719072"/>
            <a:ext cx="1408176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850" i="0">
                <a:solidFill>
                  <a:srgbClr val="1F6E43"/>
                </a:solidFill>
                <a:latin typeface="Google Sans Flex SemiBold"/>
              </a:rPr>
              <a:t>TRUSTED / CAUTION</a:t>
            </a:r>
          </a:p>
          <a:p>
            <a:pPr algn="ctr">
              <a:spcAft>
                <a:spcPts val="0"/>
              </a:spcAft>
            </a:pPr>
            <a:r>
              <a:rPr sz="700" i="0">
                <a:solidFill>
                  <a:srgbClr val="5F5F64"/>
                </a:solidFill>
                <a:latin typeface="Google Sans Flex"/>
              </a:rPr>
              <a:t>published with reasons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20040" y="219456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0">
                <a:solidFill>
                  <a:srgbClr val="1F6E43"/>
                </a:solidFill>
                <a:latin typeface="Google Sans Flex SemiBold"/>
              </a:rPr>
              <a:t>BUYER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320040" y="244144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TextBox 114"/>
          <p:cNvSpPr txBox="1"/>
          <p:nvPr/>
        </p:nvSpPr>
        <p:spPr>
          <a:xfrm>
            <a:off x="356615" y="244144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Pets with match %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rules score your home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1801368" y="277063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ounded Rectangle 116"/>
          <p:cNvSpPr/>
          <p:nvPr/>
        </p:nvSpPr>
        <p:spPr>
          <a:xfrm>
            <a:off x="2066544" y="244144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2103120" y="244144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Listing + trust card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reasons, fair price</a:t>
            </a:r>
          </a:p>
        </p:txBody>
      </p:sp>
      <p:cxnSp>
        <p:nvCxnSpPr>
          <p:cNvPr id="119" name="Connector 118"/>
          <p:cNvCxnSpPr/>
          <p:nvPr/>
        </p:nvCxnSpPr>
        <p:spPr>
          <a:xfrm>
            <a:off x="3547872" y="277063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Rounded Rectangle 119"/>
          <p:cNvSpPr/>
          <p:nvPr/>
        </p:nvSpPr>
        <p:spPr>
          <a:xfrm>
            <a:off x="3813048" y="244144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TextBox 120"/>
          <p:cNvSpPr txBox="1"/>
          <p:nvPr/>
        </p:nvSpPr>
        <p:spPr>
          <a:xfrm>
            <a:off x="3849624" y="244144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Message the breeder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AI draft, scam shield</a:t>
            </a:r>
          </a:p>
        </p:txBody>
      </p:sp>
      <p:cxnSp>
        <p:nvCxnSpPr>
          <p:cNvPr id="122" name="Connector 121"/>
          <p:cNvCxnSpPr/>
          <p:nvPr/>
        </p:nvCxnSpPr>
        <p:spPr>
          <a:xfrm>
            <a:off x="5294376" y="277063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Rounded Rectangle 122"/>
          <p:cNvSpPr/>
          <p:nvPr/>
        </p:nvSpPr>
        <p:spPr>
          <a:xfrm>
            <a:off x="5559552" y="244144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5596128" y="244144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Book a visit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seller confirms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7040880" y="277063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Rounded Rectangle 125"/>
          <p:cNvSpPr/>
          <p:nvPr/>
        </p:nvSpPr>
        <p:spPr>
          <a:xfrm>
            <a:off x="7306056" y="244144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TextBox 126"/>
          <p:cNvSpPr txBox="1"/>
          <p:nvPr/>
        </p:nvSpPr>
        <p:spPr>
          <a:xfrm>
            <a:off x="7342631" y="244144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See it, pay in person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“I bought this pet”</a:t>
            </a:r>
          </a:p>
        </p:txBody>
      </p:sp>
      <p:cxnSp>
        <p:nvCxnSpPr>
          <p:cNvPr id="128" name="Connector 127"/>
          <p:cNvCxnSpPr/>
          <p:nvPr/>
        </p:nvCxnSpPr>
        <p:spPr>
          <a:xfrm flipH="1">
            <a:off x="2807208" y="2048256"/>
            <a:ext cx="5239512" cy="393192"/>
          </a:xfrm>
          <a:prstGeom prst="line">
            <a:avLst/>
          </a:prstGeom>
          <a:ln w="15875">
            <a:solidFill>
              <a:srgbClr val="1F6E4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/>
          <p:cNvSpPr txBox="1"/>
          <p:nvPr/>
        </p:nvSpPr>
        <p:spPr>
          <a:xfrm>
            <a:off x="4878324" y="2061972"/>
            <a:ext cx="1097280" cy="1645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i="0">
                <a:solidFill>
                  <a:srgbClr val="5F5F64"/>
                </a:solidFill>
                <a:latin typeface="Google Sans Flex"/>
              </a:rPr>
              <a:t>published listings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7306056" y="344728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TextBox 130"/>
          <p:cNvSpPr txBox="1"/>
          <p:nvPr/>
        </p:nvSpPr>
        <p:spPr>
          <a:xfrm>
            <a:off x="7342631" y="344728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My pets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daily log, growth, calendar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5559552" y="344728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TextBox 132"/>
          <p:cNvSpPr txBox="1"/>
          <p:nvPr/>
        </p:nvSpPr>
        <p:spPr>
          <a:xfrm>
            <a:off x="5596128" y="344728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Symptom checker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urgency + vet, never doses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8046720" y="3099815"/>
            <a:ext cx="0" cy="347473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H="1">
            <a:off x="7040880" y="377647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Rounded Rectangle 135"/>
          <p:cNvSpPr/>
          <p:nvPr/>
        </p:nvSpPr>
        <p:spPr>
          <a:xfrm>
            <a:off x="320040" y="344728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TextBox 136"/>
          <p:cNvSpPr txBox="1"/>
          <p:nvPr/>
        </p:nvSpPr>
        <p:spPr>
          <a:xfrm>
            <a:off x="356615" y="344728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Post in a WhatsApp group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2066544" y="344728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" name="TextBox 138"/>
          <p:cNvSpPr txBox="1"/>
          <p:nvPr/>
        </p:nvSpPr>
        <p:spPr>
          <a:xfrm>
            <a:off x="2103120" y="344728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“Is this post safe?”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nothing is stored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3813048" y="344728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TextBox 140"/>
          <p:cNvSpPr txBox="1"/>
          <p:nvPr/>
        </p:nvSpPr>
        <p:spPr>
          <a:xfrm>
            <a:off x="3849624" y="344728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9A5700"/>
                </a:solidFill>
                <a:latin typeface="Google Sans Flex SemiBold"/>
              </a:rPr>
              <a:t>CAUTION + questions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never pay before visiting</a:t>
            </a:r>
          </a:p>
        </p:txBody>
      </p:sp>
      <p:cxnSp>
        <p:nvCxnSpPr>
          <p:cNvPr id="142" name="Connector 141"/>
          <p:cNvCxnSpPr/>
          <p:nvPr/>
        </p:nvCxnSpPr>
        <p:spPr>
          <a:xfrm>
            <a:off x="1801368" y="377647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3547872" y="377647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Box 143"/>
          <p:cNvSpPr txBox="1"/>
          <p:nvPr/>
        </p:nvSpPr>
        <p:spPr>
          <a:xfrm>
            <a:off x="320040" y="4645152"/>
            <a:ext cx="8503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Every step works by tapping, or by asking BreederNear AI in chat: the same tools, the same checks. Sellers also earn a Verified breeder badge.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04" name="Picture 103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975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05" name="TextBox 104"/>
          <p:cNvSpPr txBox="1"/>
          <p:nvPr/>
        </p:nvSpPr>
        <p:spPr>
          <a:xfrm>
            <a:off x="172815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Sign in or one-tap demo</a:t>
            </a:r>
          </a:p>
        </p:txBody>
      </p:sp>
      <p:pic>
        <p:nvPicPr>
          <p:cNvPr id="106" name="Picture 105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5991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07" name="TextBox 106"/>
          <p:cNvSpPr txBox="1"/>
          <p:nvPr/>
        </p:nvSpPr>
        <p:spPr>
          <a:xfrm>
            <a:off x="1928831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Pets with match %</a:t>
            </a:r>
          </a:p>
        </p:txBody>
      </p:sp>
      <p:pic>
        <p:nvPicPr>
          <p:cNvPr id="108" name="Picture 107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22007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09" name="TextBox 108"/>
          <p:cNvSpPr txBox="1"/>
          <p:nvPr/>
        </p:nvSpPr>
        <p:spPr>
          <a:xfrm>
            <a:off x="3684847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Listing + trust checks</a:t>
            </a:r>
          </a:p>
        </p:txBody>
      </p:sp>
      <p:pic>
        <p:nvPicPr>
          <p:cNvPr id="110" name="Picture 109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78024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11" name="TextBox 110"/>
          <p:cNvSpPr txBox="1"/>
          <p:nvPr/>
        </p:nvSpPr>
        <p:spPr>
          <a:xfrm>
            <a:off x="5440864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Visits, then “I bought it”</a:t>
            </a:r>
          </a:p>
        </p:txBody>
      </p:sp>
      <p:pic>
        <p:nvPicPr>
          <p:cNvPr id="112" name="Picture 111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34040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13" name="TextBox 112"/>
          <p:cNvSpPr txBox="1"/>
          <p:nvPr/>
        </p:nvSpPr>
        <p:spPr>
          <a:xfrm>
            <a:off x="7196880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My pets companion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320040" y="1188720"/>
            <a:ext cx="1234440" cy="530352"/>
          </a:xfrm>
          <a:prstGeom prst="roundRect">
            <a:avLst>
              <a:gd name="adj" fmla="val 12068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TextBox 112"/>
          <p:cNvSpPr txBox="1"/>
          <p:nvPr/>
        </p:nvSpPr>
        <p:spPr>
          <a:xfrm>
            <a:off x="356615" y="1188720"/>
            <a:ext cx="1161288" cy="53035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Buyers &amp; sellers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phone or laptop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320040" y="1965960"/>
            <a:ext cx="1234440" cy="658368"/>
          </a:xfrm>
          <a:prstGeom prst="roundRect">
            <a:avLst>
              <a:gd name="adj" fmla="val 9722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TextBox 114"/>
          <p:cNvSpPr txBox="1"/>
          <p:nvPr/>
        </p:nvSpPr>
        <p:spPr>
          <a:xfrm>
            <a:off x="356615" y="1965960"/>
            <a:ext cx="1161288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9A5700"/>
                </a:solidFill>
                <a:latin typeface="Google Sans Flex SemiBold"/>
              </a:rPr>
              <a:t>Firebase Hosting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web app on Google’s CDN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320040" y="2834640"/>
            <a:ext cx="1234440" cy="658368"/>
          </a:xfrm>
          <a:prstGeom prst="roundRect">
            <a:avLst>
              <a:gd name="adj" fmla="val 9722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TextBox 116"/>
          <p:cNvSpPr txBox="1"/>
          <p:nvPr/>
        </p:nvSpPr>
        <p:spPr>
          <a:xfrm>
            <a:off x="356615" y="2834640"/>
            <a:ext cx="1161288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9A5700"/>
                </a:solidFill>
                <a:latin typeface="Google Sans Flex SemiBold"/>
              </a:rPr>
              <a:t>Firebase Auth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Google sign-in (ID token)</a:t>
            </a:r>
          </a:p>
        </p:txBody>
      </p:sp>
      <p:cxnSp>
        <p:nvCxnSpPr>
          <p:cNvPr id="118" name="Connector 117"/>
          <p:cNvCxnSpPr/>
          <p:nvPr/>
        </p:nvCxnSpPr>
        <p:spPr>
          <a:xfrm>
            <a:off x="932688" y="1719072"/>
            <a:ext cx="0" cy="246888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Rounded Rectangle 118"/>
          <p:cNvSpPr/>
          <p:nvPr/>
        </p:nvSpPr>
        <p:spPr>
          <a:xfrm>
            <a:off x="1920240" y="1143000"/>
            <a:ext cx="4206240" cy="3474720"/>
          </a:xfrm>
          <a:prstGeom prst="roundRect">
            <a:avLst>
              <a:gd name="adj" fmla="val 2631"/>
            </a:avLst>
          </a:prstGeom>
          <a:solidFill>
            <a:srgbClr val="FFFFFF"/>
          </a:solidFill>
          <a:ln w="12700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TextBox 119"/>
          <p:cNvSpPr txBox="1"/>
          <p:nvPr/>
        </p:nvSpPr>
        <p:spPr>
          <a:xfrm>
            <a:off x="2029968" y="1188720"/>
            <a:ext cx="42062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1F5FA8"/>
                </a:solidFill>
                <a:latin typeface="Google Sans Flex SemiBold"/>
              </a:rPr>
              <a:t>Cloud Run (asia-south1)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057400" y="1472184"/>
            <a:ext cx="3931920" cy="365760"/>
          </a:xfrm>
          <a:prstGeom prst="roundRect">
            <a:avLst>
              <a:gd name="adj" fmla="val 17500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2093976" y="1472184"/>
            <a:ext cx="3858768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850" i="0">
                <a:solidFill>
                  <a:srgbClr val="1D1D1F"/>
                </a:solidFill>
                <a:latin typeface="Google Sans Flex SemiBold"/>
              </a:rPr>
              <a:t>Gatekeeper · login · rate limits · Gemini retries</a:t>
            </a:r>
          </a:p>
          <a:p>
            <a:pPr algn="ctr">
              <a:spcAft>
                <a:spcPts val="0"/>
              </a:spcAft>
            </a:pPr>
            <a:r>
              <a:rPr sz="700" i="0">
                <a:solidFill>
                  <a:srgbClr val="5F5F64"/>
                </a:solidFill>
                <a:latin typeface="Google Sans Flex"/>
              </a:rPr>
              <a:t>only the routes the app uses; roles from the server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2057400" y="1947672"/>
            <a:ext cx="1188720" cy="731520"/>
          </a:xfrm>
          <a:prstGeom prst="roundRect">
            <a:avLst>
              <a:gd name="adj" fmla="val 8750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2093976" y="1947672"/>
            <a:ext cx="1115568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1D1D1F"/>
                </a:solidFill>
                <a:latin typeface="Google Sans Flex SemiBold"/>
              </a:rPr>
              <a:t>FastAPI /api</a:t>
            </a:r>
          </a:p>
          <a:p>
            <a:pPr algn="ctr">
              <a:spcAft>
                <a:spcPts val="0"/>
              </a:spcAft>
            </a:pPr>
            <a:r>
              <a:rPr sz="750" i="0">
                <a:solidFill>
                  <a:srgbClr val="5F5F64"/>
                </a:solidFill>
                <a:latin typeface="Google Sans Flex"/>
              </a:rPr>
              <a:t>tap screens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3383280" y="1947672"/>
            <a:ext cx="2606039" cy="1481328"/>
          </a:xfrm>
          <a:prstGeom prst="roundRect">
            <a:avLst>
              <a:gd name="adj" fmla="val 4320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3429000" y="1965960"/>
            <a:ext cx="251459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i="0">
                <a:solidFill>
                  <a:srgbClr val="1F5FA8"/>
                </a:solidFill>
                <a:latin typeface="Google Sans Flex SemiBold"/>
              </a:rPr>
              <a:t>Google ADK: 7 agents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142232" y="2185415"/>
            <a:ext cx="1188720" cy="25603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4178808" y="2185415"/>
            <a:ext cx="111556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800" i="0">
                <a:solidFill>
                  <a:srgbClr val="1D1D1F"/>
                </a:solidFill>
                <a:latin typeface="Google Sans Flex SemiBold"/>
              </a:rPr>
              <a:t>Concierge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3456432" y="2532888"/>
            <a:ext cx="804672" cy="246888"/>
          </a:xfrm>
          <a:prstGeom prst="roundRect">
            <a:avLst>
              <a:gd name="adj" fmla="val 2592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3493008" y="2532888"/>
            <a:ext cx="731520" cy="24688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i="0">
                <a:solidFill>
                  <a:srgbClr val="1D1D1F"/>
                </a:solidFill>
                <a:latin typeface="Google Sans Flex SemiBold"/>
              </a:rPr>
              <a:t>Listing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4325112" y="2532888"/>
            <a:ext cx="804672" cy="246888"/>
          </a:xfrm>
          <a:prstGeom prst="roundRect">
            <a:avLst>
              <a:gd name="adj" fmla="val 2592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4361688" y="2532888"/>
            <a:ext cx="731520" cy="24688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i="0">
                <a:solidFill>
                  <a:srgbClr val="1D1D1F"/>
                </a:solidFill>
                <a:latin typeface="Google Sans Flex SemiBold"/>
              </a:rPr>
              <a:t>Trust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5193792" y="2532888"/>
            <a:ext cx="804672" cy="246888"/>
          </a:xfrm>
          <a:prstGeom prst="roundRect">
            <a:avLst>
              <a:gd name="adj" fmla="val 2592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5230368" y="2532888"/>
            <a:ext cx="731520" cy="24688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i="0">
                <a:solidFill>
                  <a:srgbClr val="1D1D1F"/>
                </a:solidFill>
                <a:latin typeface="Google Sans Flex SemiBold"/>
              </a:rPr>
              <a:t>Match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3456432" y="2834640"/>
            <a:ext cx="804672" cy="246888"/>
          </a:xfrm>
          <a:prstGeom prst="roundRect">
            <a:avLst>
              <a:gd name="adj" fmla="val 2592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TextBox 135"/>
          <p:cNvSpPr txBox="1"/>
          <p:nvPr/>
        </p:nvSpPr>
        <p:spPr>
          <a:xfrm>
            <a:off x="3493008" y="2834640"/>
            <a:ext cx="731520" cy="24688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i="0">
                <a:solidFill>
                  <a:srgbClr val="1D1D1F"/>
                </a:solidFill>
                <a:latin typeface="Google Sans Flex SemiBold"/>
              </a:rPr>
              <a:t>Care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4325112" y="2834640"/>
            <a:ext cx="804672" cy="246888"/>
          </a:xfrm>
          <a:prstGeom prst="roundRect">
            <a:avLst>
              <a:gd name="adj" fmla="val 2592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TextBox 137"/>
          <p:cNvSpPr txBox="1"/>
          <p:nvPr/>
        </p:nvSpPr>
        <p:spPr>
          <a:xfrm>
            <a:off x="4361688" y="2834640"/>
            <a:ext cx="731520" cy="24688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i="0">
                <a:solidFill>
                  <a:srgbClr val="1D1D1F"/>
                </a:solidFill>
                <a:latin typeface="Google Sans Flex SemiBold"/>
              </a:rPr>
              <a:t>Verify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5193792" y="2834640"/>
            <a:ext cx="804672" cy="246888"/>
          </a:xfrm>
          <a:prstGeom prst="roundRect">
            <a:avLst>
              <a:gd name="adj" fmla="val 2592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TextBox 139"/>
          <p:cNvSpPr txBox="1"/>
          <p:nvPr/>
        </p:nvSpPr>
        <p:spPr>
          <a:xfrm>
            <a:off x="5230368" y="2834640"/>
            <a:ext cx="731520" cy="24688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i="0">
                <a:solidFill>
                  <a:srgbClr val="1D1D1F"/>
                </a:solidFill>
                <a:latin typeface="Google Sans Flex SemiBold"/>
              </a:rPr>
              <a:t>Companion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429000" y="3127248"/>
            <a:ext cx="2514599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i="0">
                <a:solidFill>
                  <a:srgbClr val="5F5F64"/>
                </a:solidFill>
                <a:latin typeface="Google Sans Flex"/>
              </a:rPr>
              <a:t>callbacks: context · reply guard · tool log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2057400" y="3538728"/>
            <a:ext cx="3931920" cy="960120"/>
          </a:xfrm>
          <a:prstGeom prst="roundRect">
            <a:avLst>
              <a:gd name="adj" fmla="val 6666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TextBox 142"/>
          <p:cNvSpPr txBox="1"/>
          <p:nvPr/>
        </p:nvSpPr>
        <p:spPr>
          <a:xfrm>
            <a:off x="2093976" y="3538728"/>
            <a:ext cx="3858768" cy="9601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1F6E43"/>
                </a:solidFill>
                <a:latin typeface="Google Sans Flex SemiBold"/>
              </a:rPr>
              <a:t>breedernear_core: one tool layer</a:t>
            </a:r>
          </a:p>
          <a:p>
            <a:pPr algn="ctr">
              <a:spcAft>
                <a:spcPts val="0"/>
              </a:spcAft>
            </a:pPr>
            <a:r>
              <a:rPr sz="750" i="0">
                <a:solidFill>
                  <a:srgbClr val="5F5F64"/>
                </a:solidFill>
                <a:latin typeface="Google Sans Flex"/>
              </a:rPr>
              <a:t>listings · trust score · verification · match % · visits · care companion
analytics · accounts · safety rules in code · reused-photo hashing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2651760" y="2679191"/>
            <a:ext cx="0" cy="859537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4754880" y="3429000"/>
            <a:ext cx="0" cy="109728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1554480" y="2286000"/>
            <a:ext cx="365760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1554480" y="3154680"/>
            <a:ext cx="365760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Rounded Rectangle 147"/>
          <p:cNvSpPr/>
          <p:nvPr/>
        </p:nvSpPr>
        <p:spPr>
          <a:xfrm>
            <a:off x="6492240" y="1143000"/>
            <a:ext cx="2331720" cy="603504"/>
          </a:xfrm>
          <a:prstGeom prst="roundRect">
            <a:avLst>
              <a:gd name="adj" fmla="val 10606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TextBox 148"/>
          <p:cNvSpPr txBox="1"/>
          <p:nvPr/>
        </p:nvSpPr>
        <p:spPr>
          <a:xfrm>
            <a:off x="6528816" y="1143000"/>
            <a:ext cx="2258568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9A5700"/>
                </a:solidFill>
                <a:latin typeface="Google Sans Flex SemiBold"/>
              </a:rPr>
              <a:t>Gemini 3.8 Flash</a:t>
            </a:r>
          </a:p>
          <a:p>
            <a:pPr algn="ctr">
              <a:spcAft>
                <a:spcPts val="0"/>
              </a:spcAft>
            </a:pPr>
            <a:r>
              <a:rPr sz="750" i="0">
                <a:solidFill>
                  <a:srgbClr val="5F5F64"/>
                </a:solidFill>
                <a:latin typeface="Google Sans Flex"/>
              </a:rPr>
              <a:t>Vertex AI: agents, photos, certificates,
listings, care, scam scan</a:t>
            </a:r>
          </a:p>
        </p:txBody>
      </p:sp>
      <p:cxnSp>
        <p:nvCxnSpPr>
          <p:cNvPr id="150" name="Connector 149"/>
          <p:cNvCxnSpPr/>
          <p:nvPr/>
        </p:nvCxnSpPr>
        <p:spPr>
          <a:xfrm>
            <a:off x="6126479" y="1444752"/>
            <a:ext cx="365761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Rounded Rectangle 150"/>
          <p:cNvSpPr/>
          <p:nvPr/>
        </p:nvSpPr>
        <p:spPr>
          <a:xfrm>
            <a:off x="6492240" y="1847088"/>
            <a:ext cx="2331720" cy="603504"/>
          </a:xfrm>
          <a:prstGeom prst="roundRect">
            <a:avLst>
              <a:gd name="adj" fmla="val 10606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TextBox 151"/>
          <p:cNvSpPr txBox="1"/>
          <p:nvPr/>
        </p:nvSpPr>
        <p:spPr>
          <a:xfrm>
            <a:off x="6528816" y="1847088"/>
            <a:ext cx="2258568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1F6E43"/>
                </a:solidFill>
                <a:latin typeface="Google Sans Flex SemiBold"/>
              </a:rPr>
              <a:t>Firestore</a:t>
            </a:r>
          </a:p>
          <a:p>
            <a:pPr algn="ctr">
              <a:spcAft>
                <a:spcPts val="0"/>
              </a:spcAft>
            </a:pPr>
            <a:r>
              <a:rPr sz="750" i="0">
                <a:solidFill>
                  <a:srgbClr val="5F5F64"/>
                </a:solidFill>
                <a:latin typeface="Google Sans Flex"/>
              </a:rPr>
              <a:t>accounts, listings, visits, pets,
verification, analytics events</a:t>
            </a:r>
          </a:p>
        </p:txBody>
      </p:sp>
      <p:cxnSp>
        <p:nvCxnSpPr>
          <p:cNvPr id="153" name="Connector 152"/>
          <p:cNvCxnSpPr/>
          <p:nvPr/>
        </p:nvCxnSpPr>
        <p:spPr>
          <a:xfrm>
            <a:off x="6126479" y="2148840"/>
            <a:ext cx="365761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Rounded Rectangle 153"/>
          <p:cNvSpPr/>
          <p:nvPr/>
        </p:nvSpPr>
        <p:spPr>
          <a:xfrm>
            <a:off x="6492240" y="2551176"/>
            <a:ext cx="2331720" cy="603504"/>
          </a:xfrm>
          <a:prstGeom prst="roundRect">
            <a:avLst>
              <a:gd name="adj" fmla="val 10606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" name="TextBox 154"/>
          <p:cNvSpPr txBox="1"/>
          <p:nvPr/>
        </p:nvSpPr>
        <p:spPr>
          <a:xfrm>
            <a:off x="6528816" y="2551176"/>
            <a:ext cx="2258568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1F5FA8"/>
                </a:solidFill>
                <a:latin typeface="Google Sans Flex SemiBold"/>
              </a:rPr>
              <a:t>Cloud Storage</a:t>
            </a:r>
          </a:p>
          <a:p>
            <a:pPr algn="ctr">
              <a:spcAft>
                <a:spcPts val="0"/>
              </a:spcAft>
            </a:pPr>
            <a:r>
              <a:rPr sz="750" i="0">
                <a:solidFill>
                  <a:srgbClr val="5F5F64"/>
                </a:solidFill>
                <a:latin typeface="Google Sans Flex"/>
              </a:rPr>
              <a:t>private uploads, deleted once read</a:t>
            </a:r>
          </a:p>
        </p:txBody>
      </p:sp>
      <p:cxnSp>
        <p:nvCxnSpPr>
          <p:cNvPr id="156" name="Connector 155"/>
          <p:cNvCxnSpPr/>
          <p:nvPr/>
        </p:nvCxnSpPr>
        <p:spPr>
          <a:xfrm>
            <a:off x="6126479" y="2852928"/>
            <a:ext cx="365761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Rounded Rectangle 156"/>
          <p:cNvSpPr/>
          <p:nvPr/>
        </p:nvSpPr>
        <p:spPr>
          <a:xfrm>
            <a:off x="6492240" y="3255264"/>
            <a:ext cx="2331720" cy="603504"/>
          </a:xfrm>
          <a:prstGeom prst="roundRect">
            <a:avLst>
              <a:gd name="adj" fmla="val 10606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TextBox 157"/>
          <p:cNvSpPr txBox="1"/>
          <p:nvPr/>
        </p:nvSpPr>
        <p:spPr>
          <a:xfrm>
            <a:off x="6528816" y="3255264"/>
            <a:ext cx="2258568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1D1D1F"/>
                </a:solidFill>
                <a:latin typeface="Google Sans Flex SemiBold"/>
              </a:rPr>
              <a:t>Cloud Logging</a:t>
            </a:r>
          </a:p>
          <a:p>
            <a:pPr algn="ctr">
              <a:spcAft>
                <a:spcPts val="0"/>
              </a:spcAft>
            </a:pPr>
            <a:r>
              <a:rPr sz="750" i="0">
                <a:solidFill>
                  <a:srgbClr val="5F5F64"/>
                </a:solidFill>
                <a:latin typeface="Google Sans Flex"/>
              </a:rPr>
              <a:t>one JSON line per tool call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6126479" y="3557016"/>
            <a:ext cx="365761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Rounded Rectangle 159"/>
          <p:cNvSpPr/>
          <p:nvPr/>
        </p:nvSpPr>
        <p:spPr>
          <a:xfrm>
            <a:off x="6492240" y="3959352"/>
            <a:ext cx="2331720" cy="603504"/>
          </a:xfrm>
          <a:prstGeom prst="roundRect">
            <a:avLst>
              <a:gd name="adj" fmla="val 10606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TextBox 160"/>
          <p:cNvSpPr txBox="1"/>
          <p:nvPr/>
        </p:nvSpPr>
        <p:spPr>
          <a:xfrm>
            <a:off x="6528816" y="3959352"/>
            <a:ext cx="2258568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1D1D1F"/>
                </a:solidFill>
                <a:latin typeface="Google Sans Flex SemiBold"/>
              </a:rPr>
              <a:t>Cloud Build + Artifact Registry</a:t>
            </a:r>
          </a:p>
          <a:p>
            <a:pPr algn="ctr">
              <a:spcAft>
                <a:spcPts val="0"/>
              </a:spcAft>
            </a:pPr>
            <a:r>
              <a:rPr sz="750" i="0">
                <a:solidFill>
                  <a:srgbClr val="5F5F64"/>
                </a:solidFill>
                <a:latin typeface="Google Sans Flex"/>
              </a:rPr>
              <a:t>deploy from source; GitHub Actions CI</a:t>
            </a:r>
          </a:p>
        </p:txBody>
      </p:sp>
      <p:cxnSp>
        <p:nvCxnSpPr>
          <p:cNvPr id="162" name="Connector 161"/>
          <p:cNvCxnSpPr/>
          <p:nvPr/>
        </p:nvCxnSpPr>
        <p:spPr>
          <a:xfrm>
            <a:off x="6126479" y="4261104"/>
            <a:ext cx="365761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20" name="Table 119"/>
          <p:cNvGraphicFramePr>
            <a:graphicFrameLocks noGrp="1"/>
          </p:cNvGraphicFramePr>
          <p:nvPr/>
        </p:nvGraphicFramePr>
        <p:xfrm>
          <a:off x="320040" y="1115568"/>
          <a:ext cx="571500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3931920"/>
              </a:tblGrid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Google Sans Flex SemiBold"/>
                        </a:rPr>
                        <a:t>Google technology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Google Sans Flex SemiBold"/>
                        </a:rPr>
                        <a:t>How BreederNear AI uses it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Gemini 3.8 Flash (Vertex AI)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Seven ADK agents; listing extraction from photos + Tamil/English; photo, facility and certificate reading; care plans, daily-log feedback, symptom urgency; message drafts and scam scan. JSON schemas.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Google ADK (Python)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Concierge + listing, trust, match, care, verification and companion agents; tools; callbacks on every agent; streamed replies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Cloud Run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API and agents; login gatekeeper; rate limits; Gemini retries with backoff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Firebase Hosting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The web app on Google’s CDN; calls Cloud Run directly (CORS) so AI replies stream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Firebase Authentication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Continue with Google; the server verifies the Firebase ID token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Firestore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Accounts, listings, enquiries, visits, sales, pets and logs, verification, analytics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Cloud Storage, Cloud Build, Artifact Registry, Cloud Logging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Private uploads; deploy from source; tool-call logs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gemini-3.1-flash-image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Illustrative photos for the fictional sample listings (labelled in the app)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</a:tbl>
          </a:graphicData>
        </a:graphic>
      </p:graphicFrame>
      <p:sp>
        <p:nvSpPr>
          <p:cNvPr id="121" name="Rounded Rectangle 120"/>
          <p:cNvSpPr/>
          <p:nvPr/>
        </p:nvSpPr>
        <p:spPr>
          <a:xfrm>
            <a:off x="6217920" y="1115568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6309359" y="1188720"/>
            <a:ext cx="2423160" cy="27706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i="0">
                <a:solidFill>
                  <a:srgbClr val="1D1D1F"/>
                </a:solidFill>
                <a:latin typeface="Google Sans Flex SemiBold"/>
              </a:rPr>
              <a:t>Also used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19" i="0">
                <a:solidFill>
                  <a:srgbClr val="1D1D1F"/>
                </a:solidFill>
                <a:latin typeface="Google Sans Flex"/>
              </a:rPr>
              <a:t>Python 3.12, FastAPI, Pydantic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19" i="0">
                <a:solidFill>
                  <a:srgbClr val="1D1D1F"/>
                </a:solidFill>
                <a:latin typeface="Google Sans Flex"/>
              </a:rPr>
              <a:t>imagehash: reused-photo detection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19" i="0">
                <a:solidFill>
                  <a:srgbClr val="1D1D1F"/>
                </a:solidFill>
                <a:latin typeface="Google Sans Flex"/>
              </a:rPr>
              <a:t>Plain HTML, CSS, JavaScript and SVG charts: no build step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19" i="0">
                <a:solidFill>
                  <a:srgbClr val="1D1D1F"/>
                </a:solidFill>
                <a:latin typeface="Google Sans Flex"/>
              </a:rPr>
              <a:t>pytest, Playwright + axe-core, GitHub Actions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19" i="0">
                <a:solidFill>
                  <a:srgbClr val="1D1D1F"/>
                </a:solidFill>
                <a:latin typeface="Google Sans Flex"/>
              </a:rPr>
              <a:t>Firebase CLI (deploy only)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28" name="Table 127"/>
          <p:cNvGraphicFramePr>
            <a:graphicFrameLocks noGrp="1"/>
          </p:cNvGraphicFramePr>
          <p:nvPr/>
        </p:nvGraphicFramePr>
        <p:xfrm>
          <a:off x="320040" y="1115568"/>
          <a:ext cx="8503920" cy="1700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2743200"/>
                <a:gridCol w="2194560"/>
              </a:tblGrid>
              <a:tr h="283464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FFFFFF"/>
                          </a:solidFill>
                          <a:latin typeface="Google Sans Flex SemiBold"/>
                        </a:rPr>
                        <a:t>AI action (measured, real calls)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FFFFFF"/>
                          </a:solidFill>
                          <a:latin typeface="Google Sans Flex SemiBold"/>
                        </a:rPr>
                        <a:t>Gemini tokens (in · out incl. thinking)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FFFFFF"/>
                          </a:solidFill>
                          <a:latin typeface="Google Sans Flex SemiBold"/>
                        </a:rPr>
                        <a:t>Cost per action*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List a pet: extract listing + screen photo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≈ 4,560 · ≤ 1,075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≈ ₹1.3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Check an outside post (text only; a screenshot adds ≈ ₹0.5)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≈ 1,620 · ≤ 445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≈ ₹0.5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Verification: read a certificate · review 2 facility photos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≈ 1,640 · 400  ·  ≈ 2,630 · 645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≈ ₹0.5 · ≈ ₹0.8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Buyer profile from their words · scan a message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≈ 700 · 550  ·  ≈ 300 · 120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≈ ₹0.5 · ≈ ₹0.1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14-day care plan (cached per species and age) · reply draft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≈ 560 · ≤ 1,680  ·  ≈ 500 · ≤ 790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≈ ₹1.2 · ≈ ₹0.6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9" name="Table 128"/>
          <p:cNvGraphicFramePr>
            <a:graphicFrameLocks noGrp="1"/>
          </p:cNvGraphicFramePr>
          <p:nvPr/>
        </p:nvGraphicFramePr>
        <p:xfrm>
          <a:off x="320040" y="2990087"/>
          <a:ext cx="850392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2743200"/>
                <a:gridCol w="2194560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FFFFFF"/>
                          </a:solidFill>
                          <a:latin typeface="Google Sans Flex SemiBold"/>
                        </a:rPr>
                        <a:t>Running cost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FFFFFF"/>
                          </a:solidFill>
                          <a:latin typeface="Google Sans Flex SemiBold"/>
                        </a:rPr>
                        <a:t>Prototype through judging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FFFFFF"/>
                          </a:solidFill>
                          <a:latin typeface="Google Sans Flex SemiBold"/>
                        </a:rPr>
                        <a:t>Example: 10,000 listings a month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Cloud Run (1 always-on instance)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≈ ₹600–1,000 / month (estimate)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scales per request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Firestore, Cloud Storage, Firebase Hosting + Auth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within free usage at prototype scale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pay per use (not measured)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Gemini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a few hundred ₹ (tests + judges)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≈ ₹13,000 / month for screening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0" name="TextBox 129"/>
          <p:cNvSpPr txBox="1"/>
          <p:nvPr/>
        </p:nvSpPr>
        <p:spPr>
          <a:xfrm>
            <a:off x="320040" y="4133087"/>
            <a:ext cx="850392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50" i="0">
                <a:solidFill>
                  <a:srgbClr val="1F6E43"/>
                </a:solidFill>
                <a:latin typeface="Google Sans Flex SemiBold"/>
              </a:rPr>
              <a:t>Screening a listing costs about ₹1.3 against animals priced ₹400–₹25,000 in our sample listings, so every listing can be checked.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20040" y="4681728"/>
            <a:ext cx="8503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650" i="0">
                <a:solidFill>
                  <a:srgbClr val="5F5F64"/>
                </a:solidFill>
                <a:latin typeface="Google Sans Flex"/>
              </a:rPr>
              <a:t>*Measured tokens (10–11 Oct 2026); thinking tokens counted as output · Gemini 3.8 Flash at $1.50 in / $7.50 out per 1M tokens (list price from 1 Jan 2027 as reported by price trackers; introductory price until then is half) · ₹88 = $1 (assumption) · Estimates are labelled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975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37" name="TextBox 136"/>
          <p:cNvSpPr txBox="1"/>
          <p:nvPr/>
        </p:nvSpPr>
        <p:spPr>
          <a:xfrm>
            <a:off x="172815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Seller analytics</a:t>
            </a:r>
          </a:p>
        </p:txBody>
      </p:sp>
      <p:pic>
        <p:nvPicPr>
          <p:cNvPr id="138" name="Picture 137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5991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39" name="TextBox 138"/>
          <p:cNvSpPr txBox="1"/>
          <p:nvPr/>
        </p:nvSpPr>
        <p:spPr>
          <a:xfrm>
            <a:off x="1928831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Verified breeder</a:t>
            </a:r>
          </a:p>
        </p:txBody>
      </p:sp>
      <p:pic>
        <p:nvPicPr>
          <p:cNvPr id="140" name="Picture 139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22007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41" name="TextBox 140"/>
          <p:cNvSpPr txBox="1"/>
          <p:nvPr/>
        </p:nvSpPr>
        <p:spPr>
          <a:xfrm>
            <a:off x="3684847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Protected species: blocked</a:t>
            </a:r>
          </a:p>
        </p:txBody>
      </p:sp>
      <p:pic>
        <p:nvPicPr>
          <p:cNvPr id="142" name="Picture 141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78024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43" name="TextBox 142"/>
          <p:cNvSpPr txBox="1"/>
          <p:nvPr/>
        </p:nvSpPr>
        <p:spPr>
          <a:xfrm>
            <a:off x="5440864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“Is this post safe?”</a:t>
            </a:r>
          </a:p>
        </p:txBody>
      </p:sp>
      <p:pic>
        <p:nvPicPr>
          <p:cNvPr id="144" name="Picture 143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34040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45" name="TextBox 144"/>
          <p:cNvSpPr txBox="1"/>
          <p:nvPr/>
        </p:nvSpPr>
        <p:spPr>
          <a:xfrm>
            <a:off x="7196880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Symptom urgency, no doses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44" name="Table 143"/>
          <p:cNvGraphicFramePr>
            <a:graphicFrameLocks noGrp="1"/>
          </p:cNvGraphicFramePr>
          <p:nvPr/>
        </p:nvGraphicFramePr>
        <p:xfrm>
          <a:off x="320040" y="1115568"/>
          <a:ext cx="5257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60520"/>
                <a:gridCol w="109728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FFFFFF"/>
                          </a:solidFill>
                          <a:latin typeface="Google Sans Flex SemiBold"/>
                        </a:rPr>
                        <a:t>Quality (real Gemini, 10–11 Oct 2026)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FFFFFF"/>
                          </a:solidFill>
                          <a:latin typeface="Google Sans Flex SemiBold"/>
                        </a:rPr>
                        <a:t>Result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Agent evals: 22 cases × 3 runs (listing, Tamil, blocking, scams, reused photos, prompt injection, no medicine advice, roles, verification, visits, care companion)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F6E43"/>
                          </a:solidFill>
                          <a:latin typeface="Google Sans Flex SemiBold"/>
                        </a:rPr>
                        <a:t>66/66 passed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Protected species blocked from the photo alone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F6E43"/>
                          </a:solidFill>
                          <a:latin typeface="Google Sans Flex SemiBold"/>
                        </a:rPr>
                        <a:t>8/8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Ordinary pets wrongly flagged as protected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F6E43"/>
                          </a:solidFill>
                          <a:latin typeface="Google Sans Flex SemiBold"/>
                        </a:rPr>
                        <a:t>0/37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All photo checks: species, dye, blur, no animal, watermark, screenshot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 SemiBold"/>
                        </a:rPr>
                        <a:t>202/202*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Accessibility: axe-core, WCAG 2.2 AA, light + dark, 320–1280 px, all screens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F6E43"/>
                          </a:solidFill>
                          <a:latin typeface="Google Sans Flex SemiBold"/>
                        </a:rPr>
                        <a:t>0 problems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Unit tests in CI · live smoke test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 SemiBold"/>
                        </a:rPr>
                        <a:t>317 · 17/17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5" name="Table 144"/>
          <p:cNvGraphicFramePr>
            <a:graphicFrameLocks noGrp="1"/>
          </p:cNvGraphicFramePr>
          <p:nvPr/>
        </p:nvGraphicFramePr>
        <p:xfrm>
          <a:off x="5760720" y="1115568"/>
          <a:ext cx="3063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82296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FFFFFF"/>
                          </a:solidFill>
                          <a:latin typeface="Google Sans Flex SemiBold"/>
                        </a:rPr>
                        <a:t>Speed (live)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FFFFFF"/>
                          </a:solidFill>
                          <a:latin typeface="Google Sans Flex SemiBold"/>
                        </a:rPr>
                        <a:t>Time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List a pet: upload, AI fill, publish with trust check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17–27 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Check a pasted post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5–7 s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Web app load (Firebase CDN)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≈ 0.7 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Gemini: read a certificate · scan a message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≈ 4.5 s · ≈ 2 s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Gemini: symptom urgency · daily-log feedback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≈ 8 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6" name="TextBox 145"/>
          <p:cNvSpPr txBox="1"/>
          <p:nvPr/>
        </p:nvSpPr>
        <p:spPr>
          <a:xfrm>
            <a:off x="5760720" y="3447287"/>
            <a:ext cx="306324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How we test</a:t>
            </a:r>
          </a:p>
          <a:p>
            <a:pPr algn="l">
              <a:spcAft>
                <a:spcPts val="300"/>
              </a:spcAft>
            </a:pPr>
            <a:r>
              <a:rPr sz="850" i="0">
                <a:solidFill>
                  <a:srgbClr val="1D1D1F"/>
                </a:solidFill>
                <a:latin typeface="Google Sans Flex"/>
              </a:rPr>
              <a:t>Gemini isn’t deterministic, so each eval runs three times and we report the count. Decisions (trust, verification, match %, urgency floor) are made by tested code.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20040" y="4681728"/>
            <a:ext cx="8503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650" i="0">
                <a:solidFill>
                  <a:srgbClr val="5F5F64"/>
                </a:solidFill>
                <a:latin typeface="Google Sans Flex"/>
              </a:rPr>
              <a:t>*Test photos are AI-generated and the screening prompt was tuned on them (first run 196/202), so treat this as an upper bound · Reproduce: scripts/run_evals.sh 3 · scripts/vision_accuracy.py · pytest -m ui tests/ui · evals/RESULTS.md, evals/VISION_RESULTS.md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Rounded Rectangle 151"/>
          <p:cNvSpPr/>
          <p:nvPr/>
        </p:nvSpPr>
        <p:spPr>
          <a:xfrm>
            <a:off x="320040" y="1115568"/>
            <a:ext cx="4114800" cy="3291840"/>
          </a:xfrm>
          <a:prstGeom prst="roundRect">
            <a:avLst>
              <a:gd name="adj" fmla="val 2222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TextBox 152"/>
          <p:cNvSpPr txBox="1"/>
          <p:nvPr/>
        </p:nvSpPr>
        <p:spPr>
          <a:xfrm>
            <a:off x="411479" y="1188720"/>
            <a:ext cx="3931920" cy="31821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1F5FA8"/>
                </a:solidFill>
                <a:latin typeface="Google Sans Flex SemiBold"/>
              </a:rPr>
              <a:t>Roadmap (not in the prototype)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Pilot with real breeders in Coimbatore and Tiruppur, from the founder’s network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Real SMS and email delivery for one-time codes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List by sending a WhatsApp message (WhatsApp Business Platform)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Live State Animal Welfare Board and PARIVESH registry checks; the platform registrations India’s pet-trade rules require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Chat history in Agent Engine sessions, so Cloud Run can scale past one instance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Breeder ratings from buyers’ care-companion outcomes; vet and pet-pharmacy partners; more languages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4709159" y="1115568"/>
            <a:ext cx="4114800" cy="3291840"/>
          </a:xfrm>
          <a:prstGeom prst="roundRect">
            <a:avLst>
              <a:gd name="adj" fmla="val 2222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" name="TextBox 154"/>
          <p:cNvSpPr txBox="1"/>
          <p:nvPr/>
        </p:nvSpPr>
        <p:spPr>
          <a:xfrm>
            <a:off x="4800599" y="1188720"/>
            <a:ext cx="3931920" cy="31821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1F6E43"/>
                </a:solidFill>
                <a:latin typeface="Google Sans Flex SemiBold"/>
              </a:rPr>
              <a:t>Responsible by design (already built)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Protected species blocked in code, whatever the model says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No medicine names or doses: checked on every AI reply, even while streaming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Verification without ID documents or selfies; photos deleted once read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Codes shown on screen only open new or demo accounts, never someone else’s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Symptom checker: red flags are always an emergency; never a diagnosis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Synthetic sample data, clearly labelled; simulated registry numbers start with SIM-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  <a:r>
              <a:rPr lang="en-GB" sz="1100">
                <a:solidFill>
                  <a:srgbClr val="1F6E43"/>
                </a:solidFill>
                <a:latin typeface="Google Sans Flex"/>
                <a:ea typeface="Google Sans Flex Medium"/>
                <a:cs typeface="Google Sans Flex Medium"/>
                <a:sym typeface="Google Sans Flex Medium"/>
              </a:rPr>
              <a:t>: https://github.com/sudarsan-22/breedernear-ai</a:t>
            </a: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  <a:r>
              <a:rPr lang="en-GB" sz="1100">
                <a:solidFill>
                  <a:srgbClr val="1F6E43"/>
                </a:solidFill>
                <a:latin typeface="Google Sans Flex"/>
                <a:ea typeface="Google Sans Flex Medium"/>
                <a:cs typeface="Google Sans Flex Medium"/>
                <a:sym typeface="Google Sans Flex Medium"/>
              </a:rPr>
              <a:t>: [add the YouTube link on 17 Oct]</a:t>
            </a: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  <a:r>
              <a:rPr lang="en-GB" sz="1100">
                <a:solidFill>
                  <a:srgbClr val="1F6E43"/>
                </a:solidFill>
                <a:latin typeface="Google Sans Flex"/>
                <a:ea typeface="Google Sans Flex Medium"/>
                <a:cs typeface="Google Sans Flex Medium"/>
                <a:sym typeface="Google Sans Flex Medium"/>
              </a:rPr>
              <a:t>: https://breedernear-ai-2026.web.app  (API: https://breedernear-655711985039.asia-south1.run.app)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320040" y="2148840"/>
            <a:ext cx="8503920" cy="960120"/>
          </a:xfrm>
          <a:prstGeom prst="roundRect">
            <a:avLst>
              <a:gd name="adj" fmla="val 7619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TextBox 160"/>
          <p:cNvSpPr txBox="1"/>
          <p:nvPr/>
        </p:nvSpPr>
        <p:spPr>
          <a:xfrm>
            <a:off x="411479" y="2221992"/>
            <a:ext cx="8321040" cy="8503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i="0">
                <a:solidFill>
                  <a:srgbClr val="1F6E43"/>
                </a:solidFill>
                <a:latin typeface="Google Sans Flex SemiBold"/>
              </a:rPr>
              <a:t>Try it in 2 minutes: demo accounts with preloaded data</a:t>
            </a:r>
          </a:p>
          <a:p>
            <a:pPr algn="l">
              <a:spcAft>
                <a:spcPts val="300"/>
              </a:spcAft>
            </a:pPr>
            <a:r>
              <a:rPr sz="1100" i="0">
                <a:solidFill>
                  <a:srgbClr val="1D1D1F"/>
                </a:solidFill>
                <a:latin typeface="Google Sans Flex SemiBold"/>
              </a:rPr>
              <a:t>Customer: </a:t>
            </a:r>
            <a:r>
              <a:rPr sz="1100" i="0">
                <a:solidFill>
                  <a:srgbClr val="1D1D1F"/>
                </a:solidFill>
                <a:latin typeface="Google Sans Flex"/>
              </a:rPr>
              <a:t>priya.customer@example.com</a:t>
            </a:r>
            <a:r>
              <a:rPr sz="1100" i="0">
                <a:solidFill>
                  <a:srgbClr val="1D1D1F"/>
                </a:solidFill>
                <a:latin typeface="Google Sans Flex SemiBold"/>
              </a:rPr>
              <a:t>    Seller: </a:t>
            </a:r>
            <a:r>
              <a:rPr sz="1100" i="0">
                <a:solidFill>
                  <a:srgbClr val="1D1D1F"/>
                </a:solidFill>
                <a:latin typeface="Google Sans Flex"/>
              </a:rPr>
              <a:t>karthik.seller@example.com</a:t>
            </a:r>
            <a:r>
              <a:rPr sz="1100" i="0">
                <a:solidFill>
                  <a:srgbClr val="1D1D1F"/>
                </a:solidFill>
                <a:latin typeface="Google Sans Flex SemiBold"/>
              </a:rPr>
              <a:t>    Password: </a:t>
            </a:r>
            <a:r>
              <a:rPr sz="1100" i="0">
                <a:solidFill>
                  <a:srgbClr val="1D1D1F"/>
                </a:solidFill>
                <a:latin typeface="Google Sans Flex"/>
              </a:rPr>
              <a:t>demo12345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5F5F64"/>
                </a:solidFill>
                <a:latin typeface="Google Sans Flex"/>
              </a:rPr>
              <a:t>Or tap “Demo customer · Priya” / “Demo seller · Karthik” on the login screen. The README has a step-by-step walkthrough.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Business case and go-to-market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7" name="Rounded Rectangle 166"/>
          <p:cNvSpPr/>
          <p:nvPr/>
        </p:nvSpPr>
        <p:spPr>
          <a:xfrm>
            <a:off x="320040" y="1115568"/>
            <a:ext cx="2712720" cy="2377440"/>
          </a:xfrm>
          <a:prstGeom prst="roundRect">
            <a:avLst>
              <a:gd name="adj" fmla="val 3076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8" name="TextBox 167"/>
          <p:cNvSpPr txBox="1"/>
          <p:nvPr/>
        </p:nvSpPr>
        <p:spPr>
          <a:xfrm>
            <a:off x="411479" y="1188720"/>
            <a:ext cx="2529840" cy="22677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1F6E43"/>
                </a:solidFill>
                <a:latin typeface="Google Sans Flex SemiBold"/>
              </a:rPr>
              <a:t>Revenue (planned)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60" i="0">
                <a:solidFill>
                  <a:srgbClr val="1D1D1F"/>
                </a:solidFill>
                <a:latin typeface="Google Sans Flex"/>
              </a:rPr>
              <a:t>Verified-breeder subscription: badge, dashboard insights, more listings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60" i="0">
                <a:solidFill>
                  <a:srgbClr val="1D1D1F"/>
                </a:solidFill>
                <a:latin typeface="Google Sans Flex"/>
              </a:rPr>
              <a:t>Featured listings in a district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60" i="0">
                <a:solidFill>
                  <a:srgbClr val="1D1D1F"/>
                </a:solidFill>
                <a:latin typeface="Google Sans Flex"/>
              </a:rPr>
              <a:t>Commission on starter kits and accessories from partner brands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60" i="0">
                <a:solidFill>
                  <a:srgbClr val="1D1D1F"/>
                </a:solidFill>
                <a:latin typeface="Google Sans Flex"/>
              </a:rPr>
              <a:t>B2B: trust-screening API for classifieds and pet shops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3215640" y="1115568"/>
            <a:ext cx="2712720" cy="2377440"/>
          </a:xfrm>
          <a:prstGeom prst="roundRect">
            <a:avLst>
              <a:gd name="adj" fmla="val 3076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0" name="TextBox 169"/>
          <p:cNvSpPr txBox="1"/>
          <p:nvPr/>
        </p:nvSpPr>
        <p:spPr>
          <a:xfrm>
            <a:off x="3307080" y="1188720"/>
            <a:ext cx="2529840" cy="22677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1F5FA8"/>
                </a:solidFill>
                <a:latin typeface="Google Sans Flex SemiBold"/>
              </a:rPr>
              <a:t>Why it works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60" i="0">
                <a:solidFill>
                  <a:srgbClr val="1D1D1F"/>
                </a:solidFill>
                <a:latin typeface="Google Sans Flex"/>
              </a:rPr>
              <a:t>Screening costs about ₹1.3 per listing (measured tokens)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60" i="0">
                <a:solidFill>
                  <a:srgbClr val="1D1D1F"/>
                </a:solidFill>
                <a:latin typeface="Google Sans Flex"/>
              </a:rPr>
              <a:t>Serverless: Cloud Run and Firestore cost little when idle and scale per district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60" i="0">
                <a:solidFill>
                  <a:srgbClr val="1D1D1F"/>
                </a:solidFill>
                <a:latin typeface="Google Sans Flex"/>
              </a:rPr>
              <a:t>Trust is the product: OLX left this market because it couldn’t police sellers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6111240" y="1115568"/>
            <a:ext cx="2712720" cy="2377440"/>
          </a:xfrm>
          <a:prstGeom prst="roundRect">
            <a:avLst>
              <a:gd name="adj" fmla="val 3076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2" name="TextBox 171"/>
          <p:cNvSpPr txBox="1"/>
          <p:nvPr/>
        </p:nvSpPr>
        <p:spPr>
          <a:xfrm>
            <a:off x="6202680" y="1188720"/>
            <a:ext cx="2529840" cy="22677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9A5700"/>
                </a:solidFill>
                <a:latin typeface="Google Sans Flex SemiBold"/>
              </a:rPr>
              <a:t>Go-to-market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60" i="0">
                <a:solidFill>
                  <a:srgbClr val="1D1D1F"/>
                </a:solidFill>
                <a:latin typeface="Google Sans Flex"/>
              </a:rPr>
              <a:t>Start where the founder trades: Coimbatore and Tiruppur breeder groups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60" i="0">
                <a:solidFill>
                  <a:srgbClr val="1D1D1F"/>
                </a:solidFill>
                <a:latin typeface="Google Sans Flex"/>
              </a:rPr>
              <a:t>Breeders onboard with one message and their phone photos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60" i="0">
                <a:solidFill>
                  <a:srgbClr val="1D1D1F"/>
                </a:solidFill>
                <a:latin typeface="Google Sans Flex"/>
              </a:rPr>
              <a:t>Buyers arrive via “Is this post safe?” links shared in the same groups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60" i="0">
                <a:solidFill>
                  <a:srgbClr val="1D1D1F"/>
                </a:solidFill>
                <a:latin typeface="Google Sans Flex"/>
              </a:rPr>
              <a:t>Then district by district across Tamil Nadu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320040" y="3630168"/>
            <a:ext cx="850392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Who benefits</a:t>
            </a:r>
          </a:p>
          <a:p>
            <a:pPr algn="l">
              <a:spcAft>
                <a:spcPts val="300"/>
              </a:spcAft>
            </a:pPr>
            <a:r>
              <a:rPr sz="1050" i="0">
                <a:solidFill>
                  <a:srgbClr val="1D1D1F"/>
                </a:solidFill>
                <a:latin typeface="Google Sans Flex"/>
              </a:rPr>
              <a:t>Buyers: fair prices and healthier, legal pets.  Breeders: hours saved and buyers beyond their own contacts.  Wildlife: fewer protected birds traded, because illegal listings never go live.</a:t>
            </a:r>
          </a:p>
          <a:p>
            <a:pPr algn="l">
              <a:spcAft>
                <a:spcPts val="30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Revenue lines and the rollout are plans and assumptions, not results.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